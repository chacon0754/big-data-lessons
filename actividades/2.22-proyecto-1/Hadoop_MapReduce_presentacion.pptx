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53b740b5f9e47d2" /><Relationship Type="http://schemas.openxmlformats.org/officeDocument/2006/relationships/extended-properties" Target="/docProps/app.xml" Id="R2caec613bc004053" /><Relationship Type="http://schemas.openxmlformats.org/officeDocument/2006/relationships/officeDocument" Target="/ppt/presentation.xml" Id="R968354fa2c284619" /></Relationships>
</file>

<file path=ppt/presentation.xml><?xml version="1.0" encoding="utf-8"?>
<p:presentation xmlns:p="http://schemas.openxmlformats.org/presentationml/2006/main">
  <p:sldMasterIdLst>
    <p:sldMasterId xmlns:r="http://schemas.openxmlformats.org/officeDocument/2006/relationships" id="2147483648" r:id="Rbe90da88f9f2471e"/>
  </p:sldMasterIdLst>
  <p:notesMasterIdLst>
    <p:notesMasterId xmlns:r="http://schemas.openxmlformats.org/officeDocument/2006/relationships" r:id="Rb6da65f2916f441d"/>
  </p:notesMasterIdLst>
  <p:sldIdLst>
    <p:sldId xmlns:r="http://schemas.openxmlformats.org/officeDocument/2006/relationships" id="256" r:id="Ra210aa27d1954410"/>
    <p:sldId xmlns:r="http://schemas.openxmlformats.org/officeDocument/2006/relationships" id="257" r:id="R9b40eb9746d14bc6"/>
    <p:sldId xmlns:r="http://schemas.openxmlformats.org/officeDocument/2006/relationships" id="258" r:id="R0c6bf697fe1948a0"/>
    <p:sldId xmlns:r="http://schemas.openxmlformats.org/officeDocument/2006/relationships" id="259" r:id="Rbef969cb60594cc9"/>
    <p:sldId xmlns:r="http://schemas.openxmlformats.org/officeDocument/2006/relationships" id="260" r:id="Re57970ae3a314ee9"/>
    <p:sldId xmlns:r="http://schemas.openxmlformats.org/officeDocument/2006/relationships" id="261" r:id="Rfd3ac3bbb7564083"/>
    <p:sldId xmlns:r="http://schemas.openxmlformats.org/officeDocument/2006/relationships" id="262" r:id="R8a00ad92bb3442a2"/>
    <p:sldId xmlns:r="http://schemas.openxmlformats.org/officeDocument/2006/relationships" id="263" r:id="R776b6dd56c114473"/>
    <p:sldId xmlns:r="http://schemas.openxmlformats.org/officeDocument/2006/relationships" id="264" r:id="R4a20ce745ebf4156"/>
    <p:sldId xmlns:r="http://schemas.openxmlformats.org/officeDocument/2006/relationships" id="265" r:id="R4636b4be034f44bd"/>
    <p:sldId xmlns:r="http://schemas.openxmlformats.org/officeDocument/2006/relationships" id="266" r:id="Rb80c01df1cb44bcb"/>
    <p:sldId xmlns:r="http://schemas.openxmlformats.org/officeDocument/2006/relationships" id="267" r:id="Rdf31d766d3b444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85effa729b4484" /><Relationship Type="http://schemas.openxmlformats.org/officeDocument/2006/relationships/slideMaster" Target="/ppt/slideMasters/slideMaster1.xml" Id="Rbe90da88f9f2471e" /><Relationship Type="http://schemas.openxmlformats.org/officeDocument/2006/relationships/notesMaster" Target="/ppt/notesMasters/notesMaster1.xml" Id="Rb6da65f2916f441d" /><Relationship Type="http://schemas.openxmlformats.org/officeDocument/2006/relationships/presProps" Target="/ppt/presProps.xml" Id="R8b7029ed849f49d8" /><Relationship Type="http://schemas.openxmlformats.org/officeDocument/2006/relationships/tableStyles" Target="/ppt/tableStyles.xml" Id="R2c9f386d748e4837" /><Relationship Type="http://schemas.openxmlformats.org/officeDocument/2006/relationships/slide" Target="/ppt/slides/slide1.xml" Id="Ra210aa27d1954410" /><Relationship Type="http://schemas.openxmlformats.org/officeDocument/2006/relationships/slide" Target="/ppt/slides/slide2.xml" Id="R9b40eb9746d14bc6" /><Relationship Type="http://schemas.openxmlformats.org/officeDocument/2006/relationships/slide" Target="/ppt/slides/slide3.xml" Id="R0c6bf697fe1948a0" /><Relationship Type="http://schemas.openxmlformats.org/officeDocument/2006/relationships/slide" Target="/ppt/slides/slide4.xml" Id="Rbef969cb60594cc9" /><Relationship Type="http://schemas.openxmlformats.org/officeDocument/2006/relationships/slide" Target="/ppt/slides/slide5.xml" Id="Re57970ae3a314ee9" /><Relationship Type="http://schemas.openxmlformats.org/officeDocument/2006/relationships/slide" Target="/ppt/slides/slide6.xml" Id="Rfd3ac3bbb7564083" /><Relationship Type="http://schemas.openxmlformats.org/officeDocument/2006/relationships/slide" Target="/ppt/slides/slide7.xml" Id="R8a00ad92bb3442a2" /><Relationship Type="http://schemas.openxmlformats.org/officeDocument/2006/relationships/slide" Target="/ppt/slides/slide8.xml" Id="R776b6dd56c114473" /><Relationship Type="http://schemas.openxmlformats.org/officeDocument/2006/relationships/slide" Target="/ppt/slides/slide9.xml" Id="R4a20ce745ebf4156" /><Relationship Type="http://schemas.openxmlformats.org/officeDocument/2006/relationships/slide" Target="/ppt/slides/slide10.xml" Id="R4636b4be034f44bd" /><Relationship Type="http://schemas.openxmlformats.org/officeDocument/2006/relationships/slide" Target="/ppt/slides/slide11.xml" Id="Rb80c01df1cb44bcb" /><Relationship Type="http://schemas.openxmlformats.org/officeDocument/2006/relationships/slide" Target="/ppt/slides/slide12.xml" Id="Rdf31d766d3b444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c9eb0493b2648b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354d55324e4f10" /><Relationship Type="http://schemas.openxmlformats.org/officeDocument/2006/relationships/notesMaster" Target="/ppt/notesMasters/notesMaster1.xml" Id="R53d7ecaa0fc942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05c7945ff84e96" /><Relationship Type="http://schemas.openxmlformats.org/officeDocument/2006/relationships/notesMaster" Target="/ppt/notesMasters/notesMaster1.xml" Id="R0c885c0f6457485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cf945010f114aa3" /><Relationship Type="http://schemas.openxmlformats.org/officeDocument/2006/relationships/notesMaster" Target="/ppt/notesMasters/notesMaster1.xml" Id="R7fb66be4ac0e42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1c0e99a95c4d4f" /><Relationship Type="http://schemas.openxmlformats.org/officeDocument/2006/relationships/notesMaster" Target="/ppt/notesMasters/notesMaster1.xml" Id="Rc8f9b3f2d2ff4b9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c653cc66754bb4" /><Relationship Type="http://schemas.openxmlformats.org/officeDocument/2006/relationships/notesMaster" Target="/ppt/notesMasters/notesMaster1.xml" Id="R30c5871ef9684c2b"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9d1bc78d72453b" /><Relationship Type="http://schemas.openxmlformats.org/officeDocument/2006/relationships/notesMaster" Target="/ppt/notesMasters/notesMaster1.xml" Id="R72500e9d5605480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733813fca849e6" /><Relationship Type="http://schemas.openxmlformats.org/officeDocument/2006/relationships/notesMaster" Target="/ppt/notesMasters/notesMaster1.xml" Id="Rfc7172ca76a149f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ede3d75ea6c4cd5" /><Relationship Type="http://schemas.openxmlformats.org/officeDocument/2006/relationships/notesMaster" Target="/ppt/notesMasters/notesMaster1.xml" Id="R4ec8ac779c074981" /></Relationships>
</file>

<file path=ppt/notesSlides/_rels/notesSlide9.xml.rels>&#65279;<?xml version="1.0" encoding="utf-8"?><Relationships xmlns="http://schemas.openxmlformats.org/package/2006/relationships"><Relationship Type="http://schemas.openxmlformats.org/officeDocument/2006/relationships/slide" Target="/ppt/slides/slide9.xml" Id="R254c1f4768f243fd" /><Relationship Type="http://schemas.openxmlformats.org/officeDocument/2006/relationships/notesMaster" Target="/ppt/notesMasters/notesMaster1.xml" Id="R666e4aeb558042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42a899b181b4d76" /><Relationship Type="http://schemas.openxmlformats.org/officeDocument/2006/relationships/notesMaster" Target="/ppt/notesMasters/notesMaster1.xml" Id="R3f5a64a67b2c482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cdadf149f8a418b" /><Relationship Type="http://schemas.openxmlformats.org/officeDocument/2006/relationships/notesMaster" Target="/ppt/notesMasters/notesMaster1.xml" Id="R4be38deebbce46a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e64b19ab300455a" /><Relationship Type="http://schemas.openxmlformats.org/officeDocument/2006/relationships/notesMaster" Target="/ppt/notesMasters/notesMaster1.xml" Id="Rc10cf939f68240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20 segundos.</a:t>
            </a:r>
          </a:p>
          <a:p xmlns:a="http://schemas.openxmlformats.org/drawingml/2006/main">
            <a:r>
              <a:t/>
            </a:r>
          </a:p>
          <a:p xmlns:a="http://schemas.openxmlformats.org/drawingml/2006/main">
            <a:r>
              <a:t>GUION</a:t>
            </a:r>
          </a:p>
          <a:p xmlns:a="http://schemas.openxmlformats.org/drawingml/2006/main">
            <a:r>
              <a:t>Buenos días. Soy Martín Eduardo Chacón Orduño. En este proyecto configuré Hadoop en Docker y comparé el tiempo de un conteo de palabras con uno y tres trabajadores. Les explicaré cómo funciona el proceso, los resultados que obtuve y al final mostraré una ejecución en vivo.</a:t>
            </a:r>
          </a:p>
          <a:p xmlns:a="http://schemas.openxmlformats.org/drawingml/2006/main">
            <a:r>
              <a:t/>
            </a:r>
          </a:p>
          <a:p xmlns:a="http://schemas.openxmlformats.org/drawingml/2006/main">
            <a:r>
              <a:t>EN PANTALLA</a:t>
            </a:r>
          </a:p>
          <a:p xmlns:a="http://schemas.openxmlformats.org/drawingml/2006/main">
            <a:r>
              <a:t>Presenta el objetivo sin leer los datos de identificación completos.</a:t>
            </a:r>
          </a:p>
          <a:p xmlns:a="http://schemas.openxmlformats.org/drawingml/2006/main">
            <a:r>
              <a:t/>
            </a:r>
          </a:p>
          <a:p xmlns:a="http://schemas.openxmlformats.org/drawingml/2006/main">
            <a:r>
              <a:t>FUENTES</a:t>
            </a:r>
          </a:p>
          <a:p xmlns:a="http://schemas.openxmlformats.org/drawingml/2006/main">
            <a:r>
              <a:t>Proyecto 2.22. Autor: Martín Eduardo Chacón Orduño. Logos originales de la carpeta logos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segundos.</a:t>
            </a:r>
          </a:p>
          <a:p xmlns:a="http://schemas.openxmlformats.org/drawingml/2006/main">
            <a:r>
              <a:t/>
            </a:r>
          </a:p>
          <a:p xmlns:a="http://schemas.openxmlformats.org/drawingml/2006/main">
            <a:r>
              <a:t>GUION</a:t>
            </a:r>
          </a:p>
          <a:p xmlns:a="http://schemas.openxmlformats.org/drawingml/2006/main">
            <a:r>
              <a:t>La pregunta fue cuánto cambia el tiempo al aumentar la cantidad de trabajadores. Generé doce archivos, con cuarenta y cinco millones de bytes y un millón ochocientas mil líneas en total. El texto es sintético y repetido. Esto me permite saber de antemano cuántas veces debe aparecer cada palabra y verificar que el programa entregue el resultado correcto.</a:t>
            </a:r>
          </a:p>
          <a:p xmlns:a="http://schemas.openxmlformats.org/drawingml/2006/main">
            <a:r>
              <a:t/>
            </a:r>
          </a:p>
          <a:p xmlns:a="http://schemas.openxmlformats.org/drawingml/2006/main">
            <a:r>
              <a:t>EN PANTALLA</a:t>
            </a:r>
          </a:p>
          <a:p xmlns:a="http://schemas.openxmlformats.org/drawingml/2006/main">
            <a:r>
              <a:t>Señala el número de archivos y el tamaño. MB usa millones de bytes. MiB usa potencias de 1024.</a:t>
            </a:r>
          </a:p>
          <a:p xmlns:a="http://schemas.openxmlformats.org/drawingml/2006/main">
            <a:r>
              <a:t/>
            </a:r>
          </a:p>
          <a:p xmlns:a="http://schemas.openxmlformats.org/drawingml/2006/main">
            <a:r>
              <a:t>FUENTES</a:t>
            </a:r>
          </a:p>
          <a:p xmlns:a="http://schemas.openxmlformats.org/drawingml/2006/main">
            <a:r>
              <a:t>generate_data.py y captura-4.png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segundos.</a:t>
            </a:r>
          </a:p>
          <a:p xmlns:a="http://schemas.openxmlformats.org/drawingml/2006/main">
            <a:r>
              <a:t/>
            </a:r>
          </a:p>
          <a:p xmlns:a="http://schemas.openxmlformats.org/drawingml/2006/main">
            <a:r>
              <a:t>GUION</a:t>
            </a:r>
          </a:p>
          <a:p xmlns:a="http://schemas.openxmlformats.org/drawingml/2006/main">
            <a:r>
              <a:t>Para explicar el proceso usaré la frase Hadoop usa Hadoop. Mi mapper convierte el texto a minúsculas y genera una pareja de palabra y uno por cada aparición. Después Hadoop agrupa y ordena las parejas por palabra. Finalmente, el reducer suma los unos: Hadoop aparece dos veces y usa una vez. Mis programas están escritos en Python y Hadoop Streaming conecta su entrada y salida con el trabajo distribuido.</a:t>
            </a:r>
          </a:p>
          <a:p xmlns:a="http://schemas.openxmlformats.org/drawingml/2006/main">
            <a:r>
              <a:t/>
            </a:r>
          </a:p>
          <a:p xmlns:a="http://schemas.openxmlformats.org/drawingml/2006/main">
            <a:r>
              <a:t>EN PANTALLA</a:t>
            </a:r>
          </a:p>
          <a:p xmlns:a="http://schemas.openxmlformats.org/drawingml/2006/main">
            <a:r>
              <a:t>Recorre la tabla de izquierda a derecha. La agrupación la realiza Hadoop, no el script mapper.</a:t>
            </a:r>
          </a:p>
          <a:p xmlns:a="http://schemas.openxmlformats.org/drawingml/2006/main">
            <a:r>
              <a:t/>
            </a:r>
          </a:p>
          <a:p xmlns:a="http://schemas.openxmlformats.org/drawingml/2006/main">
            <a:r>
              <a:t>FUENTES</a:t>
            </a:r>
          </a:p>
          <a:p xmlns:a="http://schemas.openxmlformats.org/drawingml/2006/main">
            <a:r>
              <a:t>mapper.py y reducer.py del proyecto.</a:t>
            </a:r>
          </a:p>
          <a:p xmlns:a="http://schemas.openxmlformats.org/drawingml/2006/main">
            <a:r>
              <a:t>https://hadoop.apache.org/docs/r3.5.0/hadoop-mapreduce-client/hadoop-mapreduce-client-core/MapReduceTutorial.html</a:t>
            </a:r>
          </a:p>
          <a:p xmlns:a="http://schemas.openxmlformats.org/drawingml/2006/main">
            <a:r>
              <a:t>https://hadoop.apache.org/docs/r3.5.0/hadoop-streaming/HadoopStreaming.html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segundos.</a:t>
            </a:r>
          </a:p>
          <a:p xmlns:a="http://schemas.openxmlformats.org/drawingml/2006/main">
            <a:r>
              <a:t/>
            </a:r>
          </a:p>
          <a:p xmlns:a="http://schemas.openxmlformats.org/drawingml/2006/main">
            <a:r>
              <a:t>GUION</a:t>
            </a:r>
          </a:p>
          <a:p xmlns:a="http://schemas.openxmlformats.org/drawingml/2006/main">
            <a:r>
              <a:t>Hadoop tiene dos partes que usamos aquí. HDFS se encarga del almacenamiento y YARN de la ejecución. El NameNode conoce la ubicación de los bloques y los DataNode los almacenan. El ResourceManager coordina los recursos y los NodeManager ejecutan tareas. En mi configuración separé los servicios en contenedores. Llamo trabajador a una pareja lógica de DataNode y NodeManager. Todos corren en la misma Mac.</a:t>
            </a:r>
          </a:p>
          <a:p xmlns:a="http://schemas.openxmlformats.org/drawingml/2006/main">
            <a:r>
              <a:t/>
            </a:r>
          </a:p>
          <a:p xmlns:a="http://schemas.openxmlformats.org/drawingml/2006/main">
            <a:r>
              <a:t>EN PANTALLA</a:t>
            </a:r>
          </a:p>
          <a:p xmlns:a="http://schemas.openxmlformats.org/drawingml/2006/main">
            <a:r>
              <a:t>Distingue almacenamiento y ejecución. Los DataNode y NodeManager de una pareja están en contenedores separados. No afirmes que comparten hostname ni que son tres computadoras físicas.</a:t>
            </a:r>
          </a:p>
          <a:p xmlns:a="http://schemas.openxmlformats.org/drawingml/2006/main">
            <a:r>
              <a:t/>
            </a:r>
          </a:p>
          <a:p xmlns:a="http://schemas.openxmlformats.org/drawingml/2006/main">
            <a:r>
              <a:t>FUENTES</a:t>
            </a:r>
          </a:p>
          <a:p xmlns:a="http://schemas.openxmlformats.org/drawingml/2006/main">
            <a:r>
              <a:t>docker-compose.yml y hadoop.env del proyecto.</a:t>
            </a:r>
          </a:p>
          <a:p xmlns:a="http://schemas.openxmlformats.org/drawingml/2006/main">
            <a:r>
              <a:t>https://hadoop.apache.org/docs/r3.5.0/hadoop-mapreduce-client/hadoop-mapreduce-client-core/MapReduceTutorial.html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segundos.</a:t>
            </a:r>
          </a:p>
          <a:p xmlns:a="http://schemas.openxmlformats.org/drawingml/2006/main">
            <a:r>
              <a:t/>
            </a:r>
          </a:p>
          <a:p xmlns:a="http://schemas.openxmlformats.org/drawingml/2006/main">
            <a:r>
              <a:t>GUION</a:t>
            </a:r>
          </a:p>
          <a:p xmlns:a="http://schemas.openxmlformats.org/drawingml/2006/main">
            <a:r>
              <a:t>Utilicé Docker Compose y la imagen de Hadoop 3.5.0. Con un trabajador hay cuatro contenedores: dos servicios centrales y una pareja de DataNode y NodeManager. Al activar el perfil tres-nodos, se agregan dos parejas y quedan ocho contenedores. Ocho contenedores no significa ocho trabajadores. La captura muestra la configuración ampliada en ejecución.</a:t>
            </a:r>
          </a:p>
          <a:p xmlns:a="http://schemas.openxmlformats.org/drawingml/2006/main">
            <a:r>
              <a:t/>
            </a:r>
          </a:p>
          <a:p xmlns:a="http://schemas.openxmlformats.org/drawingml/2006/main">
            <a:r>
              <a:t>EN PANTALLA</a:t>
            </a:r>
          </a:p>
          <a:p xmlns:a="http://schemas.openxmlformats.org/drawingml/2006/main">
            <a:r>
              <a:t>Señala los nombres datanode1, 2 y 3, y nodemanager1, 2 y 3.</a:t>
            </a:r>
          </a:p>
          <a:p xmlns:a="http://schemas.openxmlformats.org/drawingml/2006/main">
            <a:r>
              <a:t/>
            </a:r>
          </a:p>
          <a:p xmlns:a="http://schemas.openxmlformats.org/drawingml/2006/main">
            <a:r>
              <a:t>FUENTES</a:t>
            </a:r>
          </a:p>
          <a:p xmlns:a="http://schemas.openxmlformats.org/drawingml/2006/main">
            <a:r>
              <a:t>docker-compose.yml y captura-9.png del proyecto.</a:t>
            </a:r>
          </a:p>
          <a:p xmlns:a="http://schemas.openxmlformats.org/drawingml/2006/main">
            <a:r>
              <a:t>https://docs.docker.com/compose/how-tos/profiles/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segundos.</a:t>
            </a:r>
          </a:p>
          <a:p xmlns:a="http://schemas.openxmlformats.org/drawingml/2006/main">
            <a:r>
              <a:t/>
            </a:r>
          </a:p>
          <a:p xmlns:a="http://schemas.openxmlformats.org/drawingml/2006/main">
            <a:r>
              <a:t>GUION</a:t>
            </a:r>
          </a:p>
          <a:p xmlns:a="http://schemas.openxmlformats.org/drawingml/2006/main">
            <a:r>
              <a:t>Cuando agregué los trabajadores, los datos seguían en el primer DataNode. Volví a cargar los mismos archivos y revisé su ubicación con fsck. En esta carga quedaron cuatro bloques en cada DataNode, con quince millones de bytes por nodo. Conservé el factor de replicación en uno. Ese valor indica cuántas copias tiene cada bloque, no cuántos trabajadores existen. HDFS reportó el estado HEALTHY.</a:t>
            </a:r>
          </a:p>
          <a:p xmlns:a="http://schemas.openxmlformats.org/drawingml/2006/main">
            <a:r>
              <a:t/>
            </a:r>
          </a:p>
          <a:p xmlns:a="http://schemas.openxmlformats.org/drawingml/2006/main">
            <a:r>
              <a:t>EN PANTALLA</a:t>
            </a:r>
          </a:p>
          <a:p xmlns:a="http://schemas.openxmlformats.org/drawingml/2006/main">
            <a:r>
              <a:t>La distribución 4, 4, 4 corresponde a la carga documentada. Una recarga futura puede repartir los archivos de otra manera.</a:t>
            </a:r>
          </a:p>
          <a:p xmlns:a="http://schemas.openxmlformats.org/drawingml/2006/main">
            <a:r>
              <a:t/>
            </a:r>
          </a:p>
          <a:p xmlns:a="http://schemas.openxmlformats.org/drawingml/2006/main">
            <a:r>
              <a:t>FUENTES</a:t>
            </a:r>
          </a:p>
          <a:p xmlns:a="http://schemas.openxmlformats.org/drawingml/2006/main">
            <a:r>
              <a:t>captura-12.png y registro 3nodes-input-distribution.log.</a:t>
            </a:r>
          </a:p>
          <a:p xmlns:a="http://schemas.openxmlformats.org/drawingml/2006/main">
            <a:r>
              <a:t>https://hadoop.apache.org/docs/r3.5.0/hadoop-project-dist/hadoop-hdfs/HDFSCommands.html#fsck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35 segundos.</a:t>
            </a:r>
          </a:p>
          <a:p xmlns:a="http://schemas.openxmlformats.org/drawingml/2006/main">
            <a:r>
              <a:t/>
            </a:r>
          </a:p>
          <a:p xmlns:a="http://schemas.openxmlformats.org/drawingml/2006/main">
            <a:r>
              <a:t>GUION</a:t>
            </a:r>
          </a:p>
          <a:p xmlns:a="http://schemas.openxmlformats.org/drawingml/2006/main">
            <a:r>
              <a:t>La consulta yarn node -list mostró tres NodeManager en estado RUNNING. Esto confirma que están registrados y disponibles. Para comprobar que el trabajo utiliza recursos también hay que mirar la actividad mientras se ejecuta. En la demostración mostraré los contenedores de YARN que aparecen durante el procesamiento. Son unidades de ejecución de YARN y no los contenedores de Docker.</a:t>
            </a:r>
          </a:p>
          <a:p xmlns:a="http://schemas.openxmlformats.org/drawingml/2006/main">
            <a:r>
              <a:t/>
            </a:r>
          </a:p>
          <a:p xmlns:a="http://schemas.openxmlformats.org/drawingml/2006/main">
            <a:r>
              <a:t>EN PANTALLA</a:t>
            </a:r>
          </a:p>
          <a:p xmlns:a="http://schemas.openxmlformats.org/drawingml/2006/main">
            <a:r>
              <a:t>No confundas disponible con procesando en ese instante. La demo observará actividad.</a:t>
            </a:r>
          </a:p>
          <a:p xmlns:a="http://schemas.openxmlformats.org/drawingml/2006/main">
            <a:r>
              <a:t/>
            </a:r>
          </a:p>
          <a:p xmlns:a="http://schemas.openxmlformats.org/drawingml/2006/main">
            <a:r>
              <a:t>FUENTES</a:t>
            </a:r>
          </a:p>
          <a:p xmlns:a="http://schemas.openxmlformats.org/drawingml/2006/main">
            <a:r>
              <a:t>captura-11.png del proyecto.</a:t>
            </a:r>
          </a:p>
          <a:p xmlns:a="http://schemas.openxmlformats.org/drawingml/2006/main">
            <a:r>
              <a:t>https://hadoop.apache.org/docs/r3.5.0/hadoop-yarn/hadoop-yarn-site/ResourceManagerRest.html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45 segundos.</a:t>
            </a:r>
          </a:p>
          <a:p xmlns:a="http://schemas.openxmlformats.org/drawingml/2006/main">
            <a:r>
              <a:t/>
            </a:r>
          </a:p>
          <a:p xmlns:a="http://schemas.openxmlformats.org/drawingml/2006/main">
            <a:r>
              <a:t>GUION</a:t>
            </a:r>
          </a:p>
          <a:p xmlns:a="http://schemas.openxmlformats.org/drawingml/2006/main">
            <a:r>
              <a:t>Para comparar mantuve los datos, los dos programas y los parámetros de Hadoop. Cada trabajo lanzó doce tareas Map y una tarea Reduce. Después de verificar el resultado hice tres ejecuciones medidas por configuración. Usé el valor real de /usr/bin/time, que mide el tiempo transcurrido del comando e incluye envío, espera y ejecución. No incluí la generación ni la carga de los datos. Cada trabajador mantuvo la misma memoria anunciada a YARN, así que al agregar trabajadores aumentaron los recursos lógicos disponibles.</a:t>
            </a:r>
          </a:p>
          <a:p xmlns:a="http://schemas.openxmlformats.org/drawingml/2006/main">
            <a:r>
              <a:t/>
            </a:r>
          </a:p>
          <a:p xmlns:a="http://schemas.openxmlformats.org/drawingml/2006/main">
            <a:r>
              <a:t>EN PANTALLA</a:t>
            </a:r>
          </a:p>
          <a:p xmlns:a="http://schemas.openxmlformats.org/drawingml/2006/main">
            <a:r>
              <a:t>Las mediciones finales con uno son 1node-series2. Las anteriores no entraron al promedio. No uses CPU time spent como tiempo real.</a:t>
            </a:r>
          </a:p>
          <a:p xmlns:a="http://schemas.openxmlformats.org/drawingml/2006/main">
            <a:r>
              <a:t/>
            </a:r>
          </a:p>
          <a:p xmlns:a="http://schemas.openxmlformats.org/drawingml/2006/main">
            <a:r>
              <a:t>FUENTES</a:t>
            </a:r>
          </a:p>
          <a:p xmlns:a="http://schemas.openxmlformats.org/drawingml/2006/main">
            <a:r>
              <a:t>contenido.tex y seis registros de las series 1node-series2 y 3nodes-timed.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50 segundos.</a:t>
            </a:r>
          </a:p>
          <a:p xmlns:a="http://schemas.openxmlformats.org/drawingml/2006/main">
            <a:r>
              <a:t/>
            </a:r>
          </a:p>
          <a:p xmlns:a="http://schemas.openxmlformats.org/drawingml/2006/main">
            <a:r>
              <a:t>GUION</a:t>
            </a:r>
          </a:p>
          <a:p xmlns:a="http://schemas.openxmlformats.org/drawingml/2006/main">
            <a:r>
              <a:t>Con un trabajador obtuve 34.47, 37.53 y 36.50 segundos. El promedio fue de 36.17. Con tres trabajadores los tiempos fueron 18.45, 21.41 y 21.85 segundos, con un promedio de 20.57. La diferencia es de aproximadamente 15.60 segundos por trabajo. Para obtener la reducción dividí la diferencia entre el promedio original y multipliqué por cien. Usando los promedios sin redondear, la reducción fue de 43.12 por ciento.</a:t>
            </a:r>
          </a:p>
          <a:p xmlns:a="http://schemas.openxmlformats.org/drawingml/2006/main">
            <a:r>
              <a:t/>
            </a:r>
          </a:p>
          <a:p xmlns:a="http://schemas.openxmlformats.org/drawingml/2006/main">
            <a:r>
              <a:t>EN PANTALLA</a:t>
            </a:r>
          </a:p>
          <a:p xmlns:a="http://schemas.openxmlformats.org/drawingml/2006/main">
            <a:r>
              <a:t>Señala primero los promedios y luego la gráfica. Aclara que el eje empieza en cero. No es tres veces más rápido.</a:t>
            </a:r>
          </a:p>
          <a:p xmlns:a="http://schemas.openxmlformats.org/drawingml/2006/main">
            <a:r>
              <a:t/>
            </a:r>
          </a:p>
          <a:p xmlns:a="http://schemas.openxmlformats.org/drawingml/2006/main">
            <a:r>
              <a:t>FUENTES</a:t>
            </a:r>
          </a:p>
          <a:p xmlns:a="http://schemas.openxmlformats.org/drawingml/2006/main">
            <a:r>
              <a:t>Registros: 1node-series2-run1, run2, run3 y 3nodes-timed1, timed2, timed3. Promedios exactos: 108.50/3 y 61.71/3.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40 segundos.</a:t>
            </a:r>
          </a:p>
          <a:p xmlns:a="http://schemas.openxmlformats.org/drawingml/2006/main">
            <a:r>
              <a:t/>
            </a:r>
          </a:p>
          <a:p xmlns:a="http://schemas.openxmlformats.org/drawingml/2006/main">
            <a:r>
              <a:t>GUION</a:t>
            </a:r>
          </a:p>
          <a:p xmlns:a="http://schemas.openxmlformats.org/drawingml/2006/main">
            <a:r>
              <a:t>Antes de medir comprobé que el conteo fuera correcto con ambas configuraciones. El bloque de texto se repite seiscientas mil veces. Hadoop aparece dos veces por bloque, por eso suma un millón doscientas mil apariciones. Cada una de las otras siete palabras suma seiscientas mil. La mejora de tiempo corresponde a esta prueba. Todos los contenedores comparten mi Mac, mantuve un reducer y el trabajo también necesita coordinación. No puedo generalizar este porcentaje a cualquier equipo o conjunto de datos.</a:t>
            </a:r>
          </a:p>
          <a:p xmlns:a="http://schemas.openxmlformats.org/drawingml/2006/main">
            <a:r>
              <a:t/>
            </a:r>
          </a:p>
          <a:p xmlns:a="http://schemas.openxmlformats.org/drawingml/2006/main">
            <a:r>
              <a:t>EN PANTALLA</a:t>
            </a:r>
          </a:p>
          <a:p xmlns:a="http://schemas.openxmlformats.org/drawingml/2006/main">
            <a:r>
              <a:t>Señala el resultado de la comprobación con tres trabajadores. La corrección del resultado y la velocidad son aspectos distintos.</a:t>
            </a:r>
          </a:p>
          <a:p xmlns:a="http://schemas.openxmlformats.org/drawingml/2006/main">
            <a:r>
              <a:t/>
            </a:r>
          </a:p>
          <a:p xmlns:a="http://schemas.openxmlformats.org/drawingml/2006/main">
            <a:r>
              <a:t>FUENTES</a:t>
            </a:r>
          </a:p>
          <a:p xmlns:a="http://schemas.openxmlformats.org/drawingml/2006/main">
            <a:r>
              <a:t>mapper.py, generate_data.py, captura-7.png y captura-13.png del proyecto.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180 segundos.</a:t>
            </a:r>
          </a:p>
          <a:p xmlns:a="http://schemas.openxmlformats.org/drawingml/2006/main">
            <a:r>
              <a:t/>
            </a:r>
          </a:p>
          <a:p xmlns:a="http://schemas.openxmlformats.org/drawingml/2006/main">
            <a:r>
              <a:t>GUION</a:t>
            </a:r>
          </a:p>
          <a:p xmlns:a="http://schemas.openxmlformats.org/drawingml/2006/main">
            <a:r>
              <a:t>Ahora mostraré el clúster. Primero verifico que los tres trabajadores estén disponibles y que existan los doce archivos. Después envío un trabajo con un nombre de salida nuevo. Mientras corre, observamos la actividad que reporta YARN. Al terminar, verifico que Hadoop haya marcado éxito y que el conteo siga siendo el esperado. Esta es una demostración adicional y no modifica los promedios del reporte.</a:t>
            </a:r>
          </a:p>
          <a:p xmlns:a="http://schemas.openxmlformats.org/drawingml/2006/main">
            <a:r>
              <a:t/>
            </a:r>
          </a:p>
          <a:p xmlns:a="http://schemas.openxmlformats.org/drawingml/2006/main">
            <a:r>
              <a:t>EN PANTALLA</a:t>
            </a:r>
          </a:p>
          <a:p xmlns:a="http://schemas.openxmlformats.org/drawingml/2006/main">
            <a:r>
              <a:t>Cambia a la terminal. Ejecuta python3 demo_hadoop.py check y python3 demo_hadoop.py run desde la carpeta entregada. Consulta la guía para preparación y recuperación.</a:t>
            </a:r>
          </a:p>
          <a:p xmlns:a="http://schemas.openxmlformats.org/drawingml/2006/main">
            <a:r>
              <a:t/>
            </a:r>
          </a:p>
          <a:p xmlns:a="http://schemas.openxmlformats.org/drawingml/2006/main">
            <a:r>
              <a:t>FUENTES</a:t>
            </a:r>
          </a:p>
          <a:p xmlns:a="http://schemas.openxmlformats.org/drawingml/2006/main">
            <a:r>
              <a:t>Guía de demostración adjunta.</a:t>
            </a:r>
          </a:p>
          <a:p xmlns:a="http://schemas.openxmlformats.org/drawingml/2006/main">
            <a:r>
              <a:t>https://hadoop.apache.org/docs/r3.5.0/hadoop-yarn/hadoop-yarn-site/ResourceManagerRest.html</a:t>
            </a:r>
          </a:p>
          <a:p xmlns:a="http://schemas.openxmlformats.org/drawingml/2006/main">
            <a:r>
              <a:t>https://hadoop.apache.org/docs/r3.5.0/hadoop-streaming/HadoopStreaming.html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sugerido: 25 segundos.</a:t>
            </a:r>
          </a:p>
          <a:p xmlns:a="http://schemas.openxmlformats.org/drawingml/2006/main">
            <a:r>
              <a:t/>
            </a:r>
          </a:p>
          <a:p xmlns:a="http://schemas.openxmlformats.org/drawingml/2006/main">
            <a:r>
              <a:t>GUION</a:t>
            </a:r>
          </a:p>
          <a:p xmlns:a="http://schemas.openxmlformats.org/drawingml/2006/main">
            <a:r>
              <a:t>En conclusión, logré configurar Hadoop con uno y tres trabajadores, comprobar el almacenamiento y ejecutar MapReduce correctamente. En estas condiciones, pasar a tres trabajadores redujo el tiempo promedio de 36.17 a 20.57 segundos, una reducción del 43.12 por ciento. El resultado del conteo se mantuvo correcto. Gracias.</a:t>
            </a:r>
          </a:p>
          <a:p xmlns:a="http://schemas.openxmlformats.org/drawingml/2006/main">
            <a:r>
              <a:t/>
            </a:r>
          </a:p>
          <a:p xmlns:a="http://schemas.openxmlformats.org/drawingml/2006/main">
            <a:r>
              <a:t>EN PANTALLA</a:t>
            </a:r>
          </a:p>
          <a:p xmlns:a="http://schemas.openxmlformats.org/drawingml/2006/main">
            <a:r>
              <a:t>Cierra con el resultado y deja espacio para preguntas.</a:t>
            </a:r>
          </a:p>
          <a:p xmlns:a="http://schemas.openxmlformats.org/drawingml/2006/main">
            <a:r>
              <a:t/>
            </a:r>
          </a:p>
          <a:p xmlns:a="http://schemas.openxmlformats.org/drawingml/2006/main">
            <a:r>
              <a:t>FUENTES</a:t>
            </a:r>
          </a:p>
          <a:p xmlns:a="http://schemas.openxmlformats.org/drawingml/2006/main">
            <a:r>
              <a:t>Reporte del proyecto y registros de ejecución.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9c1d70fff11436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86107286034da7" /><Relationship Type="http://schemas.openxmlformats.org/officeDocument/2006/relationships/slideLayout" Target="/ppt/slideLayouts/slideLayout1.xml" Id="Rfa6b16b0e7834f3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a6b16b0e7834f3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bc084eabfbe43fb" /><Relationship Type="http://schemas.openxmlformats.org/officeDocument/2006/relationships/image" Target="/ppt/media/image.png" Id="R9930ac2c4b7d4b7d" /><Relationship Type="http://schemas.openxmlformats.org/officeDocument/2006/relationships/image" Target="/ppt/media/image2.png" Id="R88763931c560496f" /><Relationship Type="http://schemas.openxmlformats.org/officeDocument/2006/relationships/notesSlide" Target="/ppt/notesSlides/notesSlide1.xml" Id="R54fc3b19044741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86458974ab343ee" /><Relationship Type="http://schemas.openxmlformats.org/officeDocument/2006/relationships/image" Target="/ppt/media/image3.png" Id="R128f24cf2b6c4a2f" /><Relationship Type="http://schemas.openxmlformats.org/officeDocument/2006/relationships/notesSlide" Target="/ppt/notesSlides/notesSlide2.xml" Id="R4ec094cee7ad48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bd6412cf7414fd5" /><Relationship Type="http://schemas.openxmlformats.org/officeDocument/2006/relationships/notesSlide" Target="/ppt/notesSlides/notesSlide3.xml" Id="R5a7c3e1dc92a4e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0c19fcad06d401a" /><Relationship Type="http://schemas.openxmlformats.org/officeDocument/2006/relationships/notesSlide" Target="/ppt/notesSlides/notesSlide4.xml" Id="R8e476762ff92411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bd52fb5496443f8" /><Relationship Type="http://schemas.openxmlformats.org/officeDocument/2006/relationships/image" Target="/ppt/media/image4.png" Id="Rbc1103f03e624914" /><Relationship Type="http://schemas.openxmlformats.org/officeDocument/2006/relationships/notesSlide" Target="/ppt/notesSlides/notesSlide5.xml" Id="R0c9163c6d8d34a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53044dedbfe4b5d" /><Relationship Type="http://schemas.openxmlformats.org/officeDocument/2006/relationships/image" Target="/ppt/media/image5.png" Id="R9d4812f615aa4a09" /><Relationship Type="http://schemas.openxmlformats.org/officeDocument/2006/relationships/notesSlide" Target="/ppt/notesSlides/notesSlide6.xml" Id="R8aa27eb7999f409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99f9e80f2e043bd" /><Relationship Type="http://schemas.openxmlformats.org/officeDocument/2006/relationships/image" Target="/ppt/media/image6.png" Id="Rc484591ce9cd4163" /><Relationship Type="http://schemas.openxmlformats.org/officeDocument/2006/relationships/notesSlide" Target="/ppt/notesSlides/notesSlide7.xml" Id="R14d8ca9ae5bc48d1"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9865217b454d37" /><Relationship Type="http://schemas.openxmlformats.org/officeDocument/2006/relationships/notesSlide" Target="/ppt/notesSlides/notesSlide8.xml" Id="R42678f26f1d5476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34611a6138745d8" /><Relationship Type="http://schemas.openxmlformats.org/officeDocument/2006/relationships/chart" Target="/ppt/slides/charts/chart1.xml" Id="Re426037d984941bc" /><Relationship Type="http://schemas.openxmlformats.org/officeDocument/2006/relationships/notesSlide" Target="/ppt/notesSlides/notesSlide9.xml" Id="R96dc015a9bbd415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a51bff29d0a485f" /><Relationship Type="http://schemas.openxmlformats.org/officeDocument/2006/relationships/image" Target="/ppt/media/image7.png" Id="R101b05dc77da41ba" /><Relationship Type="http://schemas.openxmlformats.org/officeDocument/2006/relationships/notesSlide" Target="/ppt/notesSlides/notesSlide10.xml" Id="Rfc20ede7c3a34d8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68d4dff7dbb4ee6" /><Relationship Type="http://schemas.openxmlformats.org/officeDocument/2006/relationships/notesSlide" Target="/ppt/notesSlides/notesSlide11.xml" Id="R403bffe8105f49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f074a3c71eb43c6" /><Relationship Type="http://schemas.openxmlformats.org/officeDocument/2006/relationships/notesSlide" Target="/ppt/notesSlides/notesSlide12.xml" Id="Rca91ed59a76d480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Tiempo promedio (s)</c:v>
          </c:tx>
          <c:spPr>
            <a:solidFill xmlns:a="http://schemas.openxmlformats.org/drawingml/2006/main">
              <a:srgbClr val="067E83"/>
            </a:solidFill>
          </c:spPr>
          <c:dPt>
            <c:idx val="0"/>
            <c:invertIfNegative val="0"/>
            <c:spPr>
              <a:solidFill xmlns:a="http://schemas.openxmlformats.org/drawingml/2006/main">
                <a:srgbClr val="102D3D"/>
              </a:solidFill>
            </c:spPr>
          </c:dPt>
          <c:dPt>
            <c:idx val="1"/>
            <c:invertIfNegative val="0"/>
            <c:spPr>
              <a:solidFill xmlns:a="http://schemas.openxmlformats.org/drawingml/2006/main">
                <a:srgbClr val="067E83"/>
              </a:solidFill>
            </c:spPr>
          </c:dPt>
          <c:cat>
            <c:strRef>
              <c:f>'Chart Data'!$A$2:$A$3</c:f>
              <c:strCache>
                <c:ptCount val="2"/>
                <c:pt idx="0">
                  <c:v>1 trabajador</c:v>
                </c:pt>
                <c:pt idx="1">
                  <c:v>3 trabajadores</c:v>
                </c:pt>
              </c:strCache>
            </c:strRef>
          </c:cat>
          <c:val>
            <c:numRef>
              <c:f>'Chart Data'!$B$2:$B$3</c:f>
              <c:numCache>
                <c:formatCode>0.00</c:formatCode>
                <c:ptCount val="2"/>
                <c:pt idx="0">
                  <c:v>36.17</c:v>
                </c:pt>
                <c:pt idx="1">
                  <c:v>20.57</c:v>
                </c:pt>
              </c:numCache>
            </c:numRef>
          </c:val>
        </c:ser>
        <c:dLbls>
          <c:txPr>
            <a:bodyPr xmlns:a="http://schemas.openxmlformats.org/drawingml/2006/main" anchorCtr="1"/>
            <a:lstStyle xmlns:a="http://schemas.openxmlformats.org/drawingml/2006/main"/>
            <a:p xmlns:a="http://schemas.openxmlformats.org/drawingml/2006/main">
              <a:pPr>
                <a:defRPr sz="2025" b="1">
                  <a:solidFill>
                    <a:srgbClr val="102D3D"/>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526570"/>
            </a:solidFill>
          </a:ln>
        </c:spPr>
        <c:txPr>
          <a:bodyPr xmlns:a="http://schemas.openxmlformats.org/drawingml/2006/main" anchorCtr="1"/>
          <a:lstStyle xmlns:a="http://schemas.openxmlformats.org/drawingml/2006/main"/>
          <a:p xmlns:a="http://schemas.openxmlformats.org/drawingml/2006/main">
            <a:pPr>
              <a:defRPr sz="1800">
                <a:solidFill>
                  <a:srgbClr val="102D3D"/>
                </a:solidFill>
                <a:latin typeface="Arial"/>
                <a:ea typeface="Arial"/>
                <a:cs typeface="Arial"/>
              </a:defRPr>
            </a:pPr>
          </a:p>
        </c:txPr>
        <c:crossAx val="48672768"/>
      </c:catAx>
      <c:valAx>
        <c:axId val="48672768"/>
        <c:scaling>
          <c:orientation val="minMax"/>
          <c:max val="40"/>
          <c:min val="0"/>
        </c:scaling>
        <c:delete val="0"/>
        <c:axPos val="l"/>
        <c:majorGridlines>
          <c:spPr>
            <a:ln xmlns:a="http://schemas.openxmlformats.org/drawingml/2006/main" w="9525">
              <a:solidFill>
                <a:srgbClr val="DFEAE8"/>
              </a:solidFill>
            </a:ln>
          </c:spPr>
        </c:majorGridlines>
        <c:title>
          <c:tx>
            <c:rich>
              <a:bodyPr xmlns:a="http://schemas.openxmlformats.org/drawingml/2006/main"/>
              <a:lstStyle xmlns:a="http://schemas.openxmlformats.org/drawingml/2006/main"/>
              <a:p xmlns:a="http://schemas.openxmlformats.org/drawingml/2006/main">
                <a:r>
                  <a:rPr sz="1650">
                    <a:solidFill>
                      <a:srgbClr val="526570"/>
                    </a:solidFill>
                    <a:latin typeface="Arial"/>
                    <a:ea typeface="Arial"/>
                    <a:cs typeface="Arial"/>
                  </a:rPr>
                  <a:t>Segundos</a:t>
                </a:r>
              </a:p>
            </c:rich>
          </c:tx>
          <c:overlay val="0"/>
          <c:txPr>
            <a:bodyPr xmlns:a="http://schemas.openxmlformats.org/drawingml/2006/main" anchorCtr="1"/>
            <a:lstStyle xmlns:a="http://schemas.openxmlformats.org/drawingml/2006/main"/>
            <a:p xmlns:a="http://schemas.openxmlformats.org/drawingml/2006/main">
              <a:pPr>
                <a:defRPr sz="1650">
                  <a:solidFill>
                    <a:srgbClr val="526570"/>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26570"/>
                </a:solidFill>
                <a:latin typeface="Arial"/>
                <a:ea typeface="Arial"/>
                <a:cs typeface="Arial"/>
              </a:defRPr>
            </a:pPr>
          </a:p>
        </c:txPr>
        <c:crossAx val="48650112"/>
        <c:crossBetween val="between"/>
        <c:majorUnit val="10"/>
      </c:valAx>
      <c:spPr>
        <a:solidFill xmlns:a="http://schemas.openxmlformats.org/drawingml/2006/main">
          <a:srgbClr val="F5F7F4"/>
        </a:solidFill>
      </c:spPr>
    </c:plotArea>
    <c:plotVisOnly val="1"/>
  </c:chart>
  <c:spPr>
    <a:solidFill xmlns:a="http://schemas.openxmlformats.org/drawingml/2006/main">
      <a:srgbClr val="F5F7F4"/>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D3D"/>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CD5FDBC-56EF-4840-B6CF-BF5055584916}"/>
              </a:ext>
            </a:extLst>
          </p:cNvPr>
          <p:cNvSpPr>
            <a:spLocks xmlns:a="http://schemas.openxmlformats.org/drawingml/2006/main" noGrp="1"/>
          </p:cNvSpPr>
          <p:nvPr/>
        </p:nvSpPr>
        <p:spPr>
          <a:xfrm xmlns:a="http://schemas.openxmlformats.org/drawingml/2006/main">
            <a:off x="609600" y="1314450"/>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400" b="1">
                <a:solidFill>
                  <a:srgbClr val="FFFFFF"/>
                </a:solidFill>
                <a:latin typeface="Arial"/>
                <a:ea typeface="Arial"/>
                <a:cs typeface="Arial"/>
              </a:defRPr>
            </a:pPr>
            <a:r>
              <a:rPr sz="5400" b="1">
                <a:solidFill>
                  <a:srgbClr val="FFFFFF"/>
                </a:solidFill>
                <a:latin typeface="Arial"/>
                <a:ea typeface="Arial"/>
                <a:cs typeface="Arial"/>
              </a:rPr>
              <a:t>Hadoop en Docker</a:t>
            </a:r>
          </a:p>
        </p:txBody>
      </p:sp>
      <p:sp>
        <p:nvSpPr>
          <p:cNvPr id="2" name="">
            <a:extLst xmlns:a="http://schemas.openxmlformats.org/drawingml/2006/main">
              <a:ext uri="{FF2B5EF4-FFF2-40B4-BE49-F238E27FC236}">
                <a16:creationId xmlns:a16="http://schemas.microsoft.com/office/drawing/2014/main" id="{D7717DAE-87A1-4ADE-87A6-5B979ADA4F77}"/>
              </a:ext>
            </a:extLst>
          </p:cNvPr>
          <p:cNvSpPr>
            <a:spLocks xmlns:a="http://schemas.openxmlformats.org/drawingml/2006/main" noGrp="1"/>
          </p:cNvSpPr>
          <p:nvPr/>
        </p:nvSpPr>
        <p:spPr>
          <a:xfrm xmlns:a="http://schemas.openxmlformats.org/drawingml/2006/main">
            <a:off x="609600" y="2381250"/>
            <a:ext cx="10477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0">
                <a:solidFill>
                  <a:srgbClr val="73DBCF"/>
                </a:solidFill>
                <a:latin typeface="Arial"/>
                <a:ea typeface="Arial"/>
                <a:cs typeface="Arial"/>
              </a:defRPr>
            </a:pPr>
            <a:r>
              <a:rPr sz="3300" b="0">
                <a:solidFill>
                  <a:srgbClr val="73DBCF"/>
                </a:solidFill>
                <a:latin typeface="Arial"/>
                <a:ea typeface="Arial"/>
                <a:cs typeface="Arial"/>
              </a:rPr>
              <a:t>Un trabajador frente a tres</a:t>
            </a:r>
          </a:p>
        </p:txBody>
      </p:sp>
      <p:sp>
        <p:nvSpPr>
          <p:cNvPr id="3" name="">
            <a:extLst xmlns:a="http://schemas.openxmlformats.org/drawingml/2006/main">
              <a:ext uri="{FF2B5EF4-FFF2-40B4-BE49-F238E27FC236}">
                <a16:creationId xmlns:a16="http://schemas.microsoft.com/office/drawing/2014/main" id="{9908E3D6-AF58-451C-B331-C077C609281F}"/>
              </a:ext>
            </a:extLst>
          </p:cNvPr>
          <p:cNvSpPr>
            <a:spLocks xmlns:a="http://schemas.openxmlformats.org/drawingml/2006/main" noGrp="1"/>
          </p:cNvSpPr>
          <p:nvPr/>
        </p:nvSpPr>
        <p:spPr>
          <a:xfrm xmlns:a="http://schemas.openxmlformats.org/drawingml/2006/main">
            <a:off x="609600" y="3305175"/>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Conteo de palabras con MapReduce</a:t>
            </a:r>
          </a:p>
        </p:txBody>
      </p:sp>
      <p:sp>
        <p:nvSpPr>
          <p:cNvPr id="4" name="">
            <a:extLst xmlns:a="http://schemas.openxmlformats.org/drawingml/2006/main">
              <a:ext uri="{FF2B5EF4-FFF2-40B4-BE49-F238E27FC236}">
                <a16:creationId xmlns:a16="http://schemas.microsoft.com/office/drawing/2014/main" id="{4C2F0321-6792-49C6-B5CE-120AC4961DA7}"/>
              </a:ext>
            </a:extLst>
          </p:cNvPr>
          <p:cNvSpPr>
            <a:spLocks xmlns:a="http://schemas.openxmlformats.org/drawingml/2006/main" noGrp="1"/>
          </p:cNvSpPr>
          <p:nvPr/>
        </p:nvSpPr>
        <p:spPr>
          <a:xfrm xmlns:a="http://schemas.openxmlformats.org/drawingml/2006/main">
            <a:off x="609600" y="5086350"/>
            <a:ext cx="933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FFFFFF"/>
                </a:solidFill>
                <a:latin typeface="Arial"/>
                <a:ea typeface="Arial"/>
                <a:cs typeface="Arial"/>
              </a:defRPr>
            </a:pPr>
            <a:r>
              <a:rPr sz="2025" b="1">
                <a:solidFill>
                  <a:srgbClr val="FFFFFF"/>
                </a:solidFill>
                <a:latin typeface="Arial"/>
                <a:ea typeface="Arial"/>
                <a:cs typeface="Arial"/>
              </a:rPr>
              <a:t>Martín Eduardo Chacón Orduño</a:t>
            </a:r>
          </a:p>
        </p:txBody>
      </p:sp>
      <p:sp>
        <p:nvSpPr>
          <p:cNvPr id="5" name="">
            <a:extLst xmlns:a="http://schemas.openxmlformats.org/drawingml/2006/main">
              <a:ext uri="{FF2B5EF4-FFF2-40B4-BE49-F238E27FC236}">
                <a16:creationId xmlns:a16="http://schemas.microsoft.com/office/drawing/2014/main" id="{9B2607A7-37A1-4441-A0F6-36F9DADA0D22}"/>
              </a:ext>
            </a:extLst>
          </p:cNvPr>
          <p:cNvSpPr>
            <a:spLocks xmlns:a="http://schemas.openxmlformats.org/drawingml/2006/main" noGrp="1"/>
          </p:cNvSpPr>
          <p:nvPr/>
        </p:nvSpPr>
        <p:spPr>
          <a:xfrm xmlns:a="http://schemas.openxmlformats.org/drawingml/2006/main">
            <a:off x="609600" y="5524500"/>
            <a:ext cx="933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73DBCF"/>
                </a:solidFill>
                <a:latin typeface="Arial"/>
                <a:ea typeface="Arial"/>
                <a:cs typeface="Arial"/>
              </a:defRPr>
            </a:pPr>
            <a:r>
              <a:rPr sz="1725" b="0">
                <a:solidFill>
                  <a:srgbClr val="73DBCF"/>
                </a:solidFill>
                <a:latin typeface="Arial"/>
                <a:ea typeface="Arial"/>
                <a:cs typeface="Arial"/>
              </a:rPr>
              <a:t>Big Data · Proyecto 1 · Grupo 9CC4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930ac2c4b7d4b7d"/>
          <a:stretch xmlns:a="http://schemas.openxmlformats.org/drawingml/2006/main"/>
        </p:blipFill>
        <p:spPr>
          <a:xfrm xmlns:a="http://schemas.openxmlformats.org/drawingml/2006/main">
            <a:off x="9747535" y="457200"/>
            <a:ext cx="716979" cy="781050"/>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88763931c560496f"/>
          <a:stretch xmlns:a="http://schemas.openxmlformats.org/drawingml/2006/main"/>
        </p:blipFill>
        <p:spPr>
          <a:xfrm xmlns:a="http://schemas.openxmlformats.org/drawingml/2006/main">
            <a:off x="10725150" y="459488"/>
            <a:ext cx="781050" cy="776474"/>
          </a:xfrm>
          <a:prstGeom xmlns:a="http://schemas.openxmlformats.org/drawingml/2006/main" prst="rect">
            <a:avLst/>
          </a:prstGeom>
        </p:spPr>
      </p:pic>
    </p:spTree>
    <p:extLst>
      <p:ext uri="{BB962C8B-B14F-4D97-AF65-F5344CB8AC3E}">
        <p14:creationId xmlns:p14="http://schemas.microsoft.com/office/powerpoint/2010/main" val="1757679156"/>
      </p:ext>
    </p:extLst>
  </p:cSld>
</p:sld>
</file>

<file path=ppt/slides/slide2.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F4D773F-E976-4EC0-98D0-2954F1AA6A1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El experimento</a:t>
            </a:r>
          </a:p>
        </p:txBody>
      </p:sp>
      <p:sp>
        <p:nvSpPr>
          <p:cNvPr id="2" name="">
            <a:extLst xmlns:a="http://schemas.openxmlformats.org/drawingml/2006/main">
              <a:ext uri="{FF2B5EF4-FFF2-40B4-BE49-F238E27FC236}">
                <a16:creationId xmlns:a16="http://schemas.microsoft.com/office/drawing/2014/main" id="{50DDBEFA-ACFC-43C7-9494-8141F4B797B1}"/>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03F66093-33E5-49EA-BC3C-F08E5FCD9AA8}"/>
              </a:ext>
            </a:extLst>
          </p:cNvPr>
          <p:cNvSpPr>
            <a:spLocks xmlns:a="http://schemas.openxmlformats.org/drawingml/2006/main" noGrp="1"/>
          </p:cNvSpPr>
          <p:nvPr/>
        </p:nvSpPr>
        <p:spPr>
          <a:xfrm xmlns:a="http://schemas.openxmlformats.org/drawingml/2006/main">
            <a:off x="609600" y="1381125"/>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0">
                <a:solidFill>
                  <a:srgbClr val="102D3D"/>
                </a:solidFill>
                <a:latin typeface="Arial"/>
                <a:ea typeface="Arial"/>
                <a:cs typeface="Arial"/>
              </a:defRPr>
            </a:pPr>
            <a:r>
              <a:rPr sz="2475" b="0">
                <a:solidFill>
                  <a:srgbClr val="102D3D"/>
                </a:solidFill>
                <a:latin typeface="Arial"/>
                <a:ea typeface="Arial"/>
                <a:cs typeface="Arial"/>
              </a:rPr>
              <a:t>Comparé el mismo conteo de palabras con uno y tres trabajadores.</a:t>
            </a:r>
          </a:p>
        </p:txBody>
      </p:sp>
      <p:sp>
        <p:nvSpPr>
          <p:cNvPr id="4" name="">
            <a:extLst xmlns:a="http://schemas.openxmlformats.org/drawingml/2006/main">
              <a:ext uri="{FF2B5EF4-FFF2-40B4-BE49-F238E27FC236}">
                <a16:creationId xmlns:a16="http://schemas.microsoft.com/office/drawing/2014/main" id="{334A1026-4395-462A-A99A-EA528E4AF0DE}"/>
              </a:ext>
            </a:extLst>
          </p:cNvPr>
          <p:cNvSpPr>
            <a:spLocks xmlns:a="http://schemas.openxmlformats.org/drawingml/2006/main" noGrp="1"/>
          </p:cNvSpPr>
          <p:nvPr/>
        </p:nvSpPr>
        <p:spPr>
          <a:xfrm xmlns:a="http://schemas.openxmlformats.org/drawingml/2006/main">
            <a:off x="609600" y="2428875"/>
            <a:ext cx="2476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67E83"/>
                </a:solidFill>
                <a:latin typeface="Arial"/>
                <a:ea typeface="Arial"/>
                <a:cs typeface="Arial"/>
              </a:defRPr>
            </a:pPr>
            <a:r>
              <a:rPr sz="5700" b="1">
                <a:solidFill>
                  <a:srgbClr val="067E83"/>
                </a:solidFill>
                <a:latin typeface="Arial"/>
                <a:ea typeface="Arial"/>
                <a:cs typeface="Arial"/>
              </a:rPr>
              <a:t>12</a:t>
            </a:r>
          </a:p>
        </p:txBody>
      </p:sp>
      <p:sp>
        <p:nvSpPr>
          <p:cNvPr id="5" name="">
            <a:extLst xmlns:a="http://schemas.openxmlformats.org/drawingml/2006/main">
              <a:ext uri="{FF2B5EF4-FFF2-40B4-BE49-F238E27FC236}">
                <a16:creationId xmlns:a16="http://schemas.microsoft.com/office/drawing/2014/main" id="{3322DDCD-FB72-4F2A-A780-2EF22FFCC6EE}"/>
              </a:ext>
            </a:extLst>
          </p:cNvPr>
          <p:cNvSpPr>
            <a:spLocks xmlns:a="http://schemas.openxmlformats.org/drawingml/2006/main" noGrp="1"/>
          </p:cNvSpPr>
          <p:nvPr/>
        </p:nvSpPr>
        <p:spPr>
          <a:xfrm xmlns:a="http://schemas.openxmlformats.org/drawingml/2006/main">
            <a:off x="628650" y="3362325"/>
            <a:ext cx="266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D3D"/>
                </a:solidFill>
                <a:latin typeface="Arial"/>
                <a:ea typeface="Arial"/>
                <a:cs typeface="Arial"/>
              </a:defRPr>
            </a:pPr>
            <a:r>
              <a:rPr sz="1950" b="0">
                <a:solidFill>
                  <a:srgbClr val="102D3D"/>
                </a:solidFill>
                <a:latin typeface="Arial"/>
                <a:ea typeface="Arial"/>
                <a:cs typeface="Arial"/>
              </a:rPr>
              <a:t>archivos de texto</a:t>
            </a:r>
          </a:p>
        </p:txBody>
      </p:sp>
      <p:sp>
        <p:nvSpPr>
          <p:cNvPr id="6" name="">
            <a:extLst xmlns:a="http://schemas.openxmlformats.org/drawingml/2006/main">
              <a:ext uri="{FF2B5EF4-FFF2-40B4-BE49-F238E27FC236}">
                <a16:creationId xmlns:a16="http://schemas.microsoft.com/office/drawing/2014/main" id="{37E82554-507B-4ABF-89FA-FE543D1DC490}"/>
              </a:ext>
            </a:extLst>
          </p:cNvPr>
          <p:cNvSpPr>
            <a:spLocks xmlns:a="http://schemas.openxmlformats.org/drawingml/2006/main" noGrp="1"/>
          </p:cNvSpPr>
          <p:nvPr/>
        </p:nvSpPr>
        <p:spPr>
          <a:xfrm xmlns:a="http://schemas.openxmlformats.org/drawingml/2006/main">
            <a:off x="4143375" y="2428875"/>
            <a:ext cx="3429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067E83"/>
                </a:solidFill>
                <a:latin typeface="Arial"/>
                <a:ea typeface="Arial"/>
                <a:cs typeface="Arial"/>
              </a:defRPr>
            </a:pPr>
            <a:r>
              <a:rPr sz="5700" b="1">
                <a:solidFill>
                  <a:srgbClr val="067E83"/>
                </a:solidFill>
                <a:latin typeface="Arial"/>
                <a:ea typeface="Arial"/>
                <a:cs typeface="Arial"/>
              </a:rPr>
              <a:t>45 MB</a:t>
            </a:r>
          </a:p>
        </p:txBody>
      </p:sp>
      <p:sp>
        <p:nvSpPr>
          <p:cNvPr id="7" name="">
            <a:extLst xmlns:a="http://schemas.openxmlformats.org/drawingml/2006/main">
              <a:ext uri="{FF2B5EF4-FFF2-40B4-BE49-F238E27FC236}">
                <a16:creationId xmlns:a16="http://schemas.microsoft.com/office/drawing/2014/main" id="{8E39E406-6AD4-4251-A74F-064DBBAD3751}"/>
              </a:ext>
            </a:extLst>
          </p:cNvPr>
          <p:cNvSpPr>
            <a:spLocks xmlns:a="http://schemas.openxmlformats.org/drawingml/2006/main" noGrp="1"/>
          </p:cNvSpPr>
          <p:nvPr/>
        </p:nvSpPr>
        <p:spPr>
          <a:xfrm xmlns:a="http://schemas.openxmlformats.org/drawingml/2006/main">
            <a:off x="4171950" y="33623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D3D"/>
                </a:solidFill>
                <a:latin typeface="Arial"/>
                <a:ea typeface="Arial"/>
                <a:cs typeface="Arial"/>
              </a:defRPr>
            </a:pPr>
            <a:r>
              <a:rPr sz="1950" b="0">
                <a:solidFill>
                  <a:srgbClr val="102D3D"/>
                </a:solidFill>
                <a:latin typeface="Arial"/>
                <a:ea typeface="Arial"/>
                <a:cs typeface="Arial"/>
              </a:rPr>
              <a:t>45 000 000 bytes</a:t>
            </a:r>
          </a:p>
        </p:txBody>
      </p:sp>
      <p:sp>
        <p:nvSpPr>
          <p:cNvPr id="8" name="">
            <a:extLst xmlns:a="http://schemas.openxmlformats.org/drawingml/2006/main">
              <a:ext uri="{FF2B5EF4-FFF2-40B4-BE49-F238E27FC236}">
                <a16:creationId xmlns:a16="http://schemas.microsoft.com/office/drawing/2014/main" id="{E58BBB4B-7524-4733-ADFC-6CBCCCD1FCB5}"/>
              </a:ext>
            </a:extLst>
          </p:cNvPr>
          <p:cNvSpPr>
            <a:spLocks xmlns:a="http://schemas.openxmlformats.org/drawingml/2006/main" noGrp="1"/>
          </p:cNvSpPr>
          <p:nvPr/>
        </p:nvSpPr>
        <p:spPr>
          <a:xfrm xmlns:a="http://schemas.openxmlformats.org/drawingml/2006/main">
            <a:off x="8048625" y="2524125"/>
            <a:ext cx="371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1">
                <a:solidFill>
                  <a:srgbClr val="067E83"/>
                </a:solidFill>
                <a:latin typeface="Arial"/>
                <a:ea typeface="Arial"/>
                <a:cs typeface="Arial"/>
              </a:defRPr>
            </a:pPr>
            <a:r>
              <a:rPr sz="3675" b="1">
                <a:solidFill>
                  <a:srgbClr val="067E83"/>
                </a:solidFill>
                <a:latin typeface="Arial"/>
                <a:ea typeface="Arial"/>
                <a:cs typeface="Arial"/>
              </a:rPr>
              <a:t>1.8 millones</a:t>
            </a:r>
          </a:p>
        </p:txBody>
      </p:sp>
      <p:sp>
        <p:nvSpPr>
          <p:cNvPr id="9" name="">
            <a:extLst xmlns:a="http://schemas.openxmlformats.org/drawingml/2006/main">
              <a:ext uri="{FF2B5EF4-FFF2-40B4-BE49-F238E27FC236}">
                <a16:creationId xmlns:a16="http://schemas.microsoft.com/office/drawing/2014/main" id="{AE28719B-34FF-4FA4-AEBE-D98F816659ED}"/>
              </a:ext>
            </a:extLst>
          </p:cNvPr>
          <p:cNvSpPr>
            <a:spLocks xmlns:a="http://schemas.openxmlformats.org/drawingml/2006/main" noGrp="1"/>
          </p:cNvSpPr>
          <p:nvPr/>
        </p:nvSpPr>
        <p:spPr>
          <a:xfrm xmlns:a="http://schemas.openxmlformats.org/drawingml/2006/main">
            <a:off x="8086725" y="3362325"/>
            <a:ext cx="314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D3D"/>
                </a:solidFill>
                <a:latin typeface="Arial"/>
                <a:ea typeface="Arial"/>
                <a:cs typeface="Arial"/>
              </a:defRPr>
            </a:pPr>
            <a:r>
              <a:rPr sz="1950" b="0">
                <a:solidFill>
                  <a:srgbClr val="102D3D"/>
                </a:solidFill>
                <a:latin typeface="Arial"/>
                <a:ea typeface="Arial"/>
                <a:cs typeface="Arial"/>
              </a:rPr>
              <a:t>de líneas</a:t>
            </a:r>
          </a:p>
        </p:txBody>
      </p:sp>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128f24cf2b6c4a2f"/>
          <a:stretch xmlns:a="http://schemas.openxmlformats.org/drawingml/2006/main"/>
        </p:blipFill>
        <p:spPr>
          <a:xfrm xmlns:a="http://schemas.openxmlformats.org/drawingml/2006/main">
            <a:off x="1888842" y="4143375"/>
            <a:ext cx="8414317" cy="161925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C63B8C14-D165-4D50-8570-1E9B6D6D7851}"/>
              </a:ext>
            </a:extLst>
          </p:cNvPr>
          <p:cNvSpPr>
            <a:spLocks xmlns:a="http://schemas.openxmlformats.org/drawingml/2006/main" noGrp="1"/>
          </p:cNvSpPr>
          <p:nvPr/>
        </p:nvSpPr>
        <p:spPr>
          <a:xfrm xmlns:a="http://schemas.openxmlformats.org/drawingml/2006/main">
            <a:off x="609600" y="5924550"/>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570"/>
                </a:solidFill>
                <a:latin typeface="Arial"/>
                <a:ea typeface="Arial"/>
                <a:cs typeface="Arial"/>
              </a:defRPr>
            </a:pPr>
            <a:r>
              <a:rPr sz="1725" b="0">
                <a:solidFill>
                  <a:srgbClr val="526570"/>
                </a:solidFill>
                <a:latin typeface="Arial"/>
                <a:ea typeface="Arial"/>
                <a:cs typeface="Arial"/>
              </a:rPr>
              <a:t>El generador repite el mismo texto. Su tamaño equivale a 42.92 MiB.</a:t>
            </a:r>
          </a:p>
        </p:txBody>
      </p:sp>
    </p:spTree>
    <p:extLst>
      <p:ext uri="{BB962C8B-B14F-4D97-AF65-F5344CB8AC3E}">
        <p14:creationId xmlns:p14="http://schemas.microsoft.com/office/powerpoint/2010/main" val="371141832"/>
      </p:ext>
    </p:extLst>
  </p:cSld>
</p:sld>
</file>

<file path=ppt/slides/slide3.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590AD5-DCF1-4766-82A8-BE9ED7F9E86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Cómo cuenta palabras MapReduce</a:t>
            </a:r>
          </a:p>
        </p:txBody>
      </p:sp>
      <p:sp>
        <p:nvSpPr>
          <p:cNvPr id="2" name="">
            <a:extLst xmlns:a="http://schemas.openxmlformats.org/drawingml/2006/main">
              <a:ext uri="{FF2B5EF4-FFF2-40B4-BE49-F238E27FC236}">
                <a16:creationId xmlns:a16="http://schemas.microsoft.com/office/drawing/2014/main" id="{285B6DDF-73FA-44B1-A393-490A7E1129E5}"/>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03</a:t>
            </a:r>
          </a:p>
        </p:txBody>
      </p:sp>
      <p:sp>
        <p:nvSpPr>
          <p:cNvPr id="3" name="">
            <a:extLst xmlns:a="http://schemas.openxmlformats.org/drawingml/2006/main">
              <a:ext uri="{FF2B5EF4-FFF2-40B4-BE49-F238E27FC236}">
                <a16:creationId xmlns:a16="http://schemas.microsoft.com/office/drawing/2014/main" id="{1D721C46-8919-4DCA-B5E5-D7DAC6D6BA40}"/>
              </a:ext>
            </a:extLst>
          </p:cNvPr>
          <p:cNvSpPr>
            <a:spLocks xmlns:a="http://schemas.openxmlformats.org/drawingml/2006/main" noGrp="1"/>
          </p:cNvSpPr>
          <p:nvPr/>
        </p:nvSpPr>
        <p:spPr>
          <a:xfrm xmlns:a="http://schemas.openxmlformats.org/drawingml/2006/main">
            <a:off x="609600" y="144780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067E83"/>
                </a:solidFill>
                <a:latin typeface="Arial"/>
                <a:ea typeface="Arial"/>
                <a:cs typeface="Arial"/>
              </a:defRPr>
            </a:pPr>
            <a:r>
              <a:rPr sz="2475" b="1">
                <a:solidFill>
                  <a:srgbClr val="067E83"/>
                </a:solidFill>
                <a:latin typeface="Arial"/>
                <a:ea typeface="Arial"/>
                <a:cs typeface="Arial"/>
              </a:rPr>
              <a:t>Entrada de ejemplo: “Hadoop usa Hadoop”</a:t>
            </a:r>
          </a:p>
        </p:txBody>
      </p:sp>
      <p:graphicFrame>
        <p:nvGraphicFramePr>
          <p:cNvPr id="10" name=""/>
          <p:cNvGraphicFramePr/>
          <p:nvPr/>
        </p:nvGraphicFramePr>
        <p:xfrm>
          <a:off xmlns:a="http://schemas.openxmlformats.org/drawingml/2006/main" x="609600" y="2343150"/>
          <a:ext xmlns:a="http://schemas.openxmlformats.org/drawingml/2006/main" cx="10972800" cy="2095500"/>
        </p:xfrm>
        <a:graphic xmlns:a="http://schemas.openxmlformats.org/drawingml/2006/main">
          <a:graphicData uri="http://schemas.openxmlformats.org/drawingml/2006/table">
            <a:tbl>
              <a:tblPr/>
              <a:tblGrid>
                <a:gridCol w="3238500"/>
                <a:gridCol w="4305300"/>
                <a:gridCol w="3429000"/>
              </a:tblGrid>
              <a:tr h="1047750">
                <a:tc>
                  <a:txBody>
                    <a:bodyPr/>
                    <a:lstStyle/>
                    <a:p>
                      <a:r>
                        <a:rPr sz="2100" b="1">
                          <a:solidFill>
                            <a:srgbClr val="FFFFFF"/>
                          </a:solidFill>
                          <a:latin typeface="Arial"/>
                          <a:ea typeface="Arial"/>
                          <a:cs typeface="Arial"/>
                        </a:rPr>
                        <a:t>Mapper</a:t>
                      </a:r>
                    </a:p>
                  </a:txBody>
                  <a:tcPr marL="91440" marR="91440" marT="45720" marB="45720">
                    <a:solidFill>
                      <a:srgbClr val="102D3D"/>
                    </a:solidFill>
                  </a:tcPr>
                </a:tc>
                <a:tc>
                  <a:txBody>
                    <a:bodyPr/>
                    <a:lstStyle/>
                    <a:p>
                      <a:r>
                        <a:rPr sz="2100" b="1">
                          <a:solidFill>
                            <a:srgbClr val="FFFFFF"/>
                          </a:solidFill>
                          <a:latin typeface="Arial"/>
                          <a:ea typeface="Arial"/>
                          <a:cs typeface="Arial"/>
                        </a:rPr>
                        <a:t>Agrupación de Hadoop</a:t>
                      </a:r>
                    </a:p>
                  </a:txBody>
                  <a:tcPr marL="91440" marR="91440" marT="45720" marB="45720">
                    <a:solidFill>
                      <a:srgbClr val="102D3D"/>
                    </a:solidFill>
                  </a:tcPr>
                </a:tc>
                <a:tc>
                  <a:txBody>
                    <a:bodyPr/>
                    <a:lstStyle/>
                    <a:p>
                      <a:r>
                        <a:rPr sz="2100" b="1">
                          <a:solidFill>
                            <a:srgbClr val="FFFFFF"/>
                          </a:solidFill>
                          <a:latin typeface="Arial"/>
                          <a:ea typeface="Arial"/>
                          <a:cs typeface="Arial"/>
                        </a:rPr>
                        <a:t>Reducer</a:t>
                      </a:r>
                    </a:p>
                  </a:txBody>
                  <a:tcPr marL="91440" marR="91440" marT="45720" marB="45720">
                    <a:solidFill>
                      <a:srgbClr val="102D3D"/>
                    </a:solidFill>
                  </a:tcPr>
                </a:tc>
              </a:tr>
              <a:tr h="1047750">
                <a:tc>
                  <a:txBody>
                    <a:bodyPr/>
                    <a:lstStyle/>
                    <a:p>
                      <a:r>
                        <a:rPr sz="2100">
                          <a:solidFill>
                            <a:srgbClr val="102D3D"/>
                          </a:solidFill>
                          <a:latin typeface="Arial"/>
                          <a:ea typeface="Arial"/>
                          <a:cs typeface="Arial"/>
                        </a:rPr>
                        <a:t>hadoop  1</a:t>
                      </a:r>
                    </a:p>
                    <a:p>
                      <a:r>
                        <a:rPr sz="2100">
                          <a:solidFill>
                            <a:srgbClr val="102D3D"/>
                          </a:solidFill>
                          <a:latin typeface="Arial"/>
                          <a:ea typeface="Arial"/>
                          <a:cs typeface="Arial"/>
                        </a:rPr>
                        <a:t>usa  1</a:t>
                      </a:r>
                    </a:p>
                    <a:p>
                      <a:r>
                        <a:rPr sz="2100">
                          <a:solidFill>
                            <a:srgbClr val="102D3D"/>
                          </a:solidFill>
                          <a:latin typeface="Arial"/>
                          <a:ea typeface="Arial"/>
                          <a:cs typeface="Arial"/>
                        </a:rPr>
                        <a:t>hadoop  1</a:t>
                      </a:r>
                    </a:p>
                  </a:txBody>
                  <a:tcPr marL="91440" marR="91440" marT="45720" marB="45720">
                    <a:solidFill>
                      <a:srgbClr val="FFFFFF"/>
                    </a:solidFill>
                  </a:tcPr>
                </a:tc>
                <a:tc>
                  <a:txBody>
                    <a:bodyPr/>
                    <a:lstStyle/>
                    <a:p>
                      <a:r>
                        <a:rPr sz="2100">
                          <a:solidFill>
                            <a:srgbClr val="102D3D"/>
                          </a:solidFill>
                          <a:latin typeface="Arial"/>
                          <a:ea typeface="Arial"/>
                          <a:cs typeface="Arial"/>
                        </a:rPr>
                        <a:t>hadoop  [1, 1]</a:t>
                      </a:r>
                    </a:p>
                    <a:p>
                      <a:r>
                        <a:rPr sz="2100">
                          <a:solidFill>
                            <a:srgbClr val="102D3D"/>
                          </a:solidFill>
                          <a:latin typeface="Arial"/>
                          <a:ea typeface="Arial"/>
                          <a:cs typeface="Arial"/>
                        </a:rPr>
                        <a:t>usa  [1]</a:t>
                      </a:r>
                    </a:p>
                  </a:txBody>
                  <a:tcPr marL="91440" marR="91440" marT="45720" marB="45720">
                    <a:solidFill>
                      <a:srgbClr val="FFFFFF"/>
                    </a:solidFill>
                  </a:tcPr>
                </a:tc>
                <a:tc>
                  <a:txBody>
                    <a:bodyPr/>
                    <a:lstStyle/>
                    <a:p>
                      <a:r>
                        <a:rPr sz="2100">
                          <a:solidFill>
                            <a:srgbClr val="102D3D"/>
                          </a:solidFill>
                          <a:latin typeface="Arial"/>
                          <a:ea typeface="Arial"/>
                          <a:cs typeface="Arial"/>
                        </a:rPr>
                        <a:t>hadoop  2</a:t>
                      </a:r>
                    </a:p>
                    <a:p>
                      <a:r>
                        <a:rPr sz="2100">
                          <a:solidFill>
                            <a:srgbClr val="102D3D"/>
                          </a:solidFill>
                          <a:latin typeface="Arial"/>
                          <a:ea typeface="Arial"/>
                          <a:cs typeface="Arial"/>
                        </a:rPr>
                        <a:t>usa  1</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31A4EC9-1464-47BA-B52B-2B09494124CC}"/>
              </a:ext>
            </a:extLst>
          </p:cNvPr>
          <p:cNvSpPr>
            <a:spLocks xmlns:a="http://schemas.openxmlformats.org/drawingml/2006/main" noGrp="1"/>
          </p:cNvSpPr>
          <p:nvPr/>
        </p:nvSpPr>
        <p:spPr>
          <a:xfrm xmlns:a="http://schemas.openxmlformats.org/drawingml/2006/main">
            <a:off x="609600" y="4867275"/>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D3D"/>
                </a:solidFill>
                <a:latin typeface="Arial"/>
                <a:ea typeface="Arial"/>
                <a:cs typeface="Arial"/>
              </a:defRPr>
            </a:pPr>
            <a:r>
              <a:rPr sz="2100" b="0">
                <a:solidFill>
                  <a:srgbClr val="102D3D"/>
                </a:solidFill>
                <a:latin typeface="Arial"/>
                <a:ea typeface="Arial"/>
                <a:cs typeface="Arial"/>
              </a:rPr>
              <a:t>El mapper convierte el texto a minúsculas y emite un 1 por palabra.</a:t>
            </a:r>
          </a:p>
        </p:txBody>
      </p:sp>
      <p:sp>
        <p:nvSpPr>
          <p:cNvPr id="6" name="">
            <a:extLst xmlns:a="http://schemas.openxmlformats.org/drawingml/2006/main">
              <a:ext uri="{FF2B5EF4-FFF2-40B4-BE49-F238E27FC236}">
                <a16:creationId xmlns:a16="http://schemas.microsoft.com/office/drawing/2014/main" id="{CD9D1EEE-21AF-4D15-9A72-0B4BE3E77707}"/>
              </a:ext>
            </a:extLst>
          </p:cNvPr>
          <p:cNvSpPr>
            <a:spLocks xmlns:a="http://schemas.openxmlformats.org/drawingml/2006/main" noGrp="1"/>
          </p:cNvSpPr>
          <p:nvPr/>
        </p:nvSpPr>
        <p:spPr>
          <a:xfrm xmlns:a="http://schemas.openxmlformats.org/drawingml/2006/main">
            <a:off x="609600" y="56197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D3D"/>
                </a:solidFill>
                <a:latin typeface="Arial"/>
                <a:ea typeface="Arial"/>
                <a:cs typeface="Arial"/>
              </a:defRPr>
            </a:pPr>
            <a:r>
              <a:rPr sz="2100" b="0">
                <a:solidFill>
                  <a:srgbClr val="102D3D"/>
                </a:solidFill>
                <a:latin typeface="Arial"/>
                <a:ea typeface="Arial"/>
                <a:cs typeface="Arial"/>
              </a:rPr>
              <a:t>Hadoop agrupa las claves. El reducer suma los valores de cada palabra.</a:t>
            </a:r>
          </a:p>
        </p:txBody>
      </p:sp>
    </p:spTree>
    <p:extLst>
      <p:ext uri="{BB962C8B-B14F-4D97-AF65-F5344CB8AC3E}">
        <p14:creationId xmlns:p14="http://schemas.microsoft.com/office/powerpoint/2010/main" val="1998593555"/>
      </p:ext>
    </p:extLst>
  </p:cSld>
</p:sld>
</file>

<file path=ppt/slides/slide4.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441022-A29C-480D-9542-DF6109A3837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Las funciones del clúster</a:t>
            </a:r>
          </a:p>
        </p:txBody>
      </p:sp>
      <p:sp>
        <p:nvSpPr>
          <p:cNvPr id="2" name="">
            <a:extLst xmlns:a="http://schemas.openxmlformats.org/drawingml/2006/main">
              <a:ext uri="{FF2B5EF4-FFF2-40B4-BE49-F238E27FC236}">
                <a16:creationId xmlns:a16="http://schemas.microsoft.com/office/drawing/2014/main" id="{C1B4BFCF-0449-4D2B-8B81-5E1B4453D2F4}"/>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13340CB8-199D-4084-A4CE-77ABDA7E3ABC}"/>
              </a:ext>
            </a:extLst>
          </p:cNvPr>
          <p:cNvSpPr>
            <a:spLocks xmlns:a="http://schemas.openxmlformats.org/drawingml/2006/main" noGrp="1"/>
          </p:cNvSpPr>
          <p:nvPr/>
        </p:nvSpPr>
        <p:spPr>
          <a:xfrm xmlns:a="http://schemas.openxmlformats.org/drawingml/2006/main">
            <a:off x="609600" y="14287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067E83"/>
                </a:solidFill>
                <a:latin typeface="Arial"/>
                <a:ea typeface="Arial"/>
                <a:cs typeface="Arial"/>
              </a:defRPr>
            </a:pPr>
            <a:r>
              <a:rPr sz="2400" b="1">
                <a:solidFill>
                  <a:srgbClr val="067E83"/>
                </a:solidFill>
                <a:latin typeface="Arial"/>
                <a:ea typeface="Arial"/>
                <a:cs typeface="Arial"/>
              </a:rPr>
              <a:t>HDFS almacena los datos. YARN organiza la ejecución.</a:t>
            </a:r>
          </a:p>
        </p:txBody>
      </p:sp>
      <p:graphicFrame>
        <p:nvGraphicFramePr>
          <p:cNvPr id="9" name=""/>
          <p:cNvGraphicFramePr/>
          <p:nvPr/>
        </p:nvGraphicFramePr>
        <p:xfrm>
          <a:off xmlns:a="http://schemas.openxmlformats.org/drawingml/2006/main" x="609600" y="2238375"/>
          <a:ext xmlns:a="http://schemas.openxmlformats.org/drawingml/2006/main" cx="10972800" cy="3238500"/>
        </p:xfrm>
        <a:graphic xmlns:a="http://schemas.openxmlformats.org/drawingml/2006/main">
          <a:graphicData uri="http://schemas.openxmlformats.org/drawingml/2006/table">
            <a:tbl>
              <a:tblPr/>
              <a:tblGrid>
                <a:gridCol w="3143250"/>
                <a:gridCol w="7829550"/>
              </a:tblGrid>
              <a:tr h="647700">
                <a:tc>
                  <a:txBody>
                    <a:bodyPr/>
                    <a:lstStyle/>
                    <a:p>
                      <a:r>
                        <a:rPr sz="1950" b="1">
                          <a:solidFill>
                            <a:srgbClr val="FFFFFF"/>
                          </a:solidFill>
                          <a:latin typeface="Arial"/>
                          <a:ea typeface="Arial"/>
                          <a:cs typeface="Arial"/>
                        </a:rPr>
                        <a:t>Servicio</a:t>
                      </a:r>
                    </a:p>
                  </a:txBody>
                  <a:tcPr marL="91440" marR="91440" marT="45720" marB="45720">
                    <a:solidFill>
                      <a:srgbClr val="102D3D"/>
                    </a:solidFill>
                  </a:tcPr>
                </a:tc>
                <a:tc>
                  <a:txBody>
                    <a:bodyPr/>
                    <a:lstStyle/>
                    <a:p>
                      <a:r>
                        <a:rPr sz="1950" b="1">
                          <a:solidFill>
                            <a:srgbClr val="FFFFFF"/>
                          </a:solidFill>
                          <a:latin typeface="Arial"/>
                          <a:ea typeface="Arial"/>
                          <a:cs typeface="Arial"/>
                        </a:rPr>
                        <a:t>Función en el proyecto</a:t>
                      </a:r>
                    </a:p>
                  </a:txBody>
                  <a:tcPr marL="91440" marR="91440" marT="45720" marB="45720">
                    <a:solidFill>
                      <a:srgbClr val="102D3D"/>
                    </a:solidFill>
                  </a:tcPr>
                </a:tc>
              </a:tr>
              <a:tr h="647700">
                <a:tc>
                  <a:txBody>
                    <a:bodyPr/>
                    <a:lstStyle/>
                    <a:p>
                      <a:r>
                        <a:rPr sz="1950">
                          <a:solidFill>
                            <a:srgbClr val="102D3D"/>
                          </a:solidFill>
                          <a:latin typeface="Arial"/>
                          <a:ea typeface="Arial"/>
                          <a:cs typeface="Arial"/>
                        </a:rPr>
                        <a:t>NameNode</a:t>
                      </a:r>
                    </a:p>
                  </a:txBody>
                  <a:tcPr marL="91440" marR="91440" marT="45720" marB="45720">
                    <a:solidFill>
                      <a:srgbClr val="FFFFFF"/>
                    </a:solidFill>
                  </a:tcPr>
                </a:tc>
                <a:tc>
                  <a:txBody>
                    <a:bodyPr/>
                    <a:lstStyle/>
                    <a:p>
                      <a:r>
                        <a:rPr sz="1950">
                          <a:solidFill>
                            <a:srgbClr val="102D3D"/>
                          </a:solidFill>
                          <a:latin typeface="Arial"/>
                          <a:ea typeface="Arial"/>
                          <a:cs typeface="Arial"/>
                        </a:rPr>
                        <a:t>Administra la ubicación de los archivos y sus bloques.</a:t>
                      </a:r>
                    </a:p>
                  </a:txBody>
                  <a:tcPr marL="91440" marR="91440" marT="45720" marB="45720">
                    <a:solidFill>
                      <a:srgbClr val="FFFFFF"/>
                    </a:solidFill>
                  </a:tcPr>
                </a:tc>
              </a:tr>
              <a:tr h="647700">
                <a:tc>
                  <a:txBody>
                    <a:bodyPr/>
                    <a:lstStyle/>
                    <a:p>
                      <a:r>
                        <a:rPr sz="1950">
                          <a:solidFill>
                            <a:srgbClr val="102D3D"/>
                          </a:solidFill>
                          <a:latin typeface="Arial"/>
                          <a:ea typeface="Arial"/>
                          <a:cs typeface="Arial"/>
                        </a:rPr>
                        <a:t>DataNode</a:t>
                      </a:r>
                    </a:p>
                  </a:txBody>
                  <a:tcPr marL="91440" marR="91440" marT="45720" marB="45720">
                    <a:solidFill>
                      <a:srgbClr val="FFFFFF"/>
                    </a:solidFill>
                  </a:tcPr>
                </a:tc>
                <a:tc>
                  <a:txBody>
                    <a:bodyPr/>
                    <a:lstStyle/>
                    <a:p>
                      <a:r>
                        <a:rPr sz="1950">
                          <a:solidFill>
                            <a:srgbClr val="102D3D"/>
                          </a:solidFill>
                          <a:latin typeface="Arial"/>
                          <a:ea typeface="Arial"/>
                          <a:cs typeface="Arial"/>
                        </a:rPr>
                        <a:t>Almacena los bloques de datos.</a:t>
                      </a:r>
                    </a:p>
                  </a:txBody>
                  <a:tcPr marL="91440" marR="91440" marT="45720" marB="45720">
                    <a:solidFill>
                      <a:srgbClr val="FFFFFF"/>
                    </a:solidFill>
                  </a:tcPr>
                </a:tc>
              </a:tr>
              <a:tr h="647700">
                <a:tc>
                  <a:txBody>
                    <a:bodyPr/>
                    <a:lstStyle/>
                    <a:p>
                      <a:r>
                        <a:rPr sz="1950">
                          <a:solidFill>
                            <a:srgbClr val="102D3D"/>
                          </a:solidFill>
                          <a:latin typeface="Arial"/>
                          <a:ea typeface="Arial"/>
                          <a:cs typeface="Arial"/>
                        </a:rPr>
                        <a:t>ResourceManager</a:t>
                      </a:r>
                    </a:p>
                  </a:txBody>
                  <a:tcPr marL="91440" marR="91440" marT="45720" marB="45720">
                    <a:solidFill>
                      <a:srgbClr val="FFFFFF"/>
                    </a:solidFill>
                  </a:tcPr>
                </a:tc>
                <a:tc>
                  <a:txBody>
                    <a:bodyPr/>
                    <a:lstStyle/>
                    <a:p>
                      <a:r>
                        <a:rPr sz="1950">
                          <a:solidFill>
                            <a:srgbClr val="102D3D"/>
                          </a:solidFill>
                          <a:latin typeface="Arial"/>
                          <a:ea typeface="Arial"/>
                          <a:cs typeface="Arial"/>
                        </a:rPr>
                        <a:t>Coordina los recursos para ejecutar los trabajos.</a:t>
                      </a:r>
                    </a:p>
                  </a:txBody>
                  <a:tcPr marL="91440" marR="91440" marT="45720" marB="45720">
                    <a:solidFill>
                      <a:srgbClr val="FFFFFF"/>
                    </a:solidFill>
                  </a:tcPr>
                </a:tc>
              </a:tr>
              <a:tr h="647700">
                <a:tc>
                  <a:txBody>
                    <a:bodyPr/>
                    <a:lstStyle/>
                    <a:p>
                      <a:r>
                        <a:rPr sz="1950">
                          <a:solidFill>
                            <a:srgbClr val="102D3D"/>
                          </a:solidFill>
                          <a:latin typeface="Arial"/>
                          <a:ea typeface="Arial"/>
                          <a:cs typeface="Arial"/>
                        </a:rPr>
                        <a:t>NodeManager</a:t>
                      </a:r>
                    </a:p>
                  </a:txBody>
                  <a:tcPr marL="91440" marR="91440" marT="45720" marB="45720">
                    <a:solidFill>
                      <a:srgbClr val="FFFFFF"/>
                    </a:solidFill>
                  </a:tcPr>
                </a:tc>
                <a:tc>
                  <a:txBody>
                    <a:bodyPr/>
                    <a:lstStyle/>
                    <a:p>
                      <a:r>
                        <a:rPr sz="1950">
                          <a:solidFill>
                            <a:srgbClr val="102D3D"/>
                          </a:solidFill>
                          <a:latin typeface="Arial"/>
                          <a:ea typeface="Arial"/>
                          <a:cs typeface="Arial"/>
                        </a:rPr>
                        <a:t>Ejecuta las tareas asignadas en cada trabajador.</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5A54B9B9-D32A-410F-AC85-F79DFB0D3297}"/>
              </a:ext>
            </a:extLst>
          </p:cNvPr>
          <p:cNvSpPr>
            <a:spLocks xmlns:a="http://schemas.openxmlformats.org/drawingml/2006/main" noGrp="1"/>
          </p:cNvSpPr>
          <p:nvPr/>
        </p:nvSpPr>
        <p:spPr>
          <a:xfrm xmlns:a="http://schemas.openxmlformats.org/drawingml/2006/main">
            <a:off x="609600" y="5810250"/>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D3D"/>
                </a:solidFill>
                <a:latin typeface="Arial"/>
                <a:ea typeface="Arial"/>
                <a:cs typeface="Arial"/>
              </a:defRPr>
            </a:pPr>
            <a:r>
              <a:rPr sz="2100" b="0">
                <a:solidFill>
                  <a:srgbClr val="102D3D"/>
                </a:solidFill>
                <a:latin typeface="Arial"/>
                <a:ea typeface="Arial"/>
                <a:cs typeface="Arial"/>
              </a:rPr>
              <a:t>Representé cada trabajador con un DataNode y un NodeManager.</a:t>
            </a:r>
          </a:p>
        </p:txBody>
      </p:sp>
    </p:spTree>
    <p:extLst>
      <p:ext uri="{BB962C8B-B14F-4D97-AF65-F5344CB8AC3E}">
        <p14:creationId xmlns:p14="http://schemas.microsoft.com/office/powerpoint/2010/main" val="1410427241"/>
      </p:ext>
    </p:extLst>
  </p:cSld>
</p:sld>
</file>

<file path=ppt/slides/slide5.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67686A6-7014-4BCF-804E-021B212D23C3}"/>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Configuración en Docker</a:t>
            </a:r>
          </a:p>
        </p:txBody>
      </p:sp>
      <p:sp>
        <p:nvSpPr>
          <p:cNvPr id="2" name="">
            <a:extLst xmlns:a="http://schemas.openxmlformats.org/drawingml/2006/main">
              <a:ext uri="{FF2B5EF4-FFF2-40B4-BE49-F238E27FC236}">
                <a16:creationId xmlns:a16="http://schemas.microsoft.com/office/drawing/2014/main" id="{8FA7CF44-CD84-479D-86D9-645765ABC82C}"/>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21D3FABC-C37E-44AA-B38D-6D8903F8EF85}"/>
              </a:ext>
            </a:extLst>
          </p:cNvPr>
          <p:cNvSpPr>
            <a:spLocks xmlns:a="http://schemas.openxmlformats.org/drawingml/2006/main" noGrp="1"/>
          </p:cNvSpPr>
          <p:nvPr/>
        </p:nvSpPr>
        <p:spPr>
          <a:xfrm xmlns:a="http://schemas.openxmlformats.org/drawingml/2006/main">
            <a:off x="609600" y="142875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67E83"/>
                </a:solidFill>
                <a:latin typeface="Arial"/>
                <a:ea typeface="Arial"/>
                <a:cs typeface="Arial"/>
              </a:defRPr>
            </a:pPr>
            <a:r>
              <a:rPr sz="2625" b="1">
                <a:solidFill>
                  <a:srgbClr val="067E83"/>
                </a:solidFill>
                <a:latin typeface="Arial"/>
                <a:ea typeface="Arial"/>
                <a:cs typeface="Arial"/>
              </a:rPr>
              <a:t>Un trabajador</a:t>
            </a:r>
          </a:p>
        </p:txBody>
      </p:sp>
      <p:sp>
        <p:nvSpPr>
          <p:cNvPr id="4" name="">
            <a:extLst xmlns:a="http://schemas.openxmlformats.org/drawingml/2006/main">
              <a:ext uri="{FF2B5EF4-FFF2-40B4-BE49-F238E27FC236}">
                <a16:creationId xmlns:a16="http://schemas.microsoft.com/office/drawing/2014/main" id="{7E842855-BCBD-411C-BA78-BA29A47369CF}"/>
              </a:ext>
            </a:extLst>
          </p:cNvPr>
          <p:cNvSpPr>
            <a:spLocks xmlns:a="http://schemas.openxmlformats.org/drawingml/2006/main" noGrp="1"/>
          </p:cNvSpPr>
          <p:nvPr/>
        </p:nvSpPr>
        <p:spPr>
          <a:xfrm xmlns:a="http://schemas.openxmlformats.org/drawingml/2006/main">
            <a:off x="609600" y="2057400"/>
            <a:ext cx="5286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D3D"/>
                </a:solidFill>
                <a:latin typeface="Arial"/>
                <a:ea typeface="Arial"/>
                <a:cs typeface="Arial"/>
              </a:defRPr>
            </a:pPr>
            <a:r>
              <a:rPr sz="2100" b="0">
                <a:solidFill>
                  <a:srgbClr val="102D3D"/>
                </a:solidFill>
                <a:latin typeface="Arial"/>
                <a:ea typeface="Arial"/>
                <a:cs typeface="Arial"/>
              </a:rPr>
              <a:t>4 contenedores: 2 centrales y 1 pareja.</a:t>
            </a:r>
          </a:p>
        </p:txBody>
      </p:sp>
      <p:sp>
        <p:nvSpPr>
          <p:cNvPr id="5" name="">
            <a:extLst xmlns:a="http://schemas.openxmlformats.org/drawingml/2006/main">
              <a:ext uri="{FF2B5EF4-FFF2-40B4-BE49-F238E27FC236}">
                <a16:creationId xmlns:a16="http://schemas.microsoft.com/office/drawing/2014/main" id="{73F45C8C-682D-4922-9CFE-3D46F24F0C66}"/>
              </a:ext>
            </a:extLst>
          </p:cNvPr>
          <p:cNvSpPr>
            <a:spLocks xmlns:a="http://schemas.openxmlformats.org/drawingml/2006/main" noGrp="1"/>
          </p:cNvSpPr>
          <p:nvPr/>
        </p:nvSpPr>
        <p:spPr>
          <a:xfrm xmlns:a="http://schemas.openxmlformats.org/drawingml/2006/main">
            <a:off x="6524625" y="1428750"/>
            <a:ext cx="5143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67E83"/>
                </a:solidFill>
                <a:latin typeface="Arial"/>
                <a:ea typeface="Arial"/>
                <a:cs typeface="Arial"/>
              </a:defRPr>
            </a:pPr>
            <a:r>
              <a:rPr sz="2625" b="1">
                <a:solidFill>
                  <a:srgbClr val="067E83"/>
                </a:solidFill>
                <a:latin typeface="Arial"/>
                <a:ea typeface="Arial"/>
                <a:cs typeface="Arial"/>
              </a:rPr>
              <a:t>Tres trabajadores</a:t>
            </a:r>
          </a:p>
        </p:txBody>
      </p:sp>
      <p:sp>
        <p:nvSpPr>
          <p:cNvPr id="6" name="">
            <a:extLst xmlns:a="http://schemas.openxmlformats.org/drawingml/2006/main">
              <a:ext uri="{FF2B5EF4-FFF2-40B4-BE49-F238E27FC236}">
                <a16:creationId xmlns:a16="http://schemas.microsoft.com/office/drawing/2014/main" id="{7CDF9977-F9A5-4FE6-8C91-555EBBD8F7D3}"/>
              </a:ext>
            </a:extLst>
          </p:cNvPr>
          <p:cNvSpPr>
            <a:spLocks xmlns:a="http://schemas.openxmlformats.org/drawingml/2006/main" noGrp="1"/>
          </p:cNvSpPr>
          <p:nvPr/>
        </p:nvSpPr>
        <p:spPr>
          <a:xfrm xmlns:a="http://schemas.openxmlformats.org/drawingml/2006/main">
            <a:off x="6524625" y="2057400"/>
            <a:ext cx="5143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D3D"/>
                </a:solidFill>
                <a:latin typeface="Arial"/>
                <a:ea typeface="Arial"/>
                <a:cs typeface="Arial"/>
              </a:defRPr>
            </a:pPr>
            <a:r>
              <a:rPr sz="2100" b="0">
                <a:solidFill>
                  <a:srgbClr val="102D3D"/>
                </a:solidFill>
                <a:latin typeface="Arial"/>
                <a:ea typeface="Arial"/>
                <a:cs typeface="Arial"/>
              </a:rPr>
              <a:t>8 contenedores: 2 centrales y 3 parejas.</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bc1103f03e624914"/>
          <a:stretch xmlns:a="http://schemas.openxmlformats.org/drawingml/2006/main"/>
        </p:blipFill>
        <p:spPr>
          <a:xfrm xmlns:a="http://schemas.openxmlformats.org/drawingml/2006/main">
            <a:off x="609600" y="3050523"/>
            <a:ext cx="10972800" cy="2385729"/>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94AEE5F-CBE2-494E-A2C4-B84BA168D293}"/>
              </a:ext>
            </a:extLst>
          </p:cNvPr>
          <p:cNvSpPr>
            <a:spLocks xmlns:a="http://schemas.openxmlformats.org/drawingml/2006/main" noGrp="1"/>
          </p:cNvSpPr>
          <p:nvPr/>
        </p:nvSpPr>
        <p:spPr>
          <a:xfrm xmlns:a="http://schemas.openxmlformats.org/drawingml/2006/main">
            <a:off x="609600" y="5715000"/>
            <a:ext cx="10953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D"/>
                </a:solidFill>
                <a:latin typeface="Arial"/>
                <a:ea typeface="Arial"/>
                <a:cs typeface="Arial"/>
              </a:defRPr>
            </a:pPr>
            <a:r>
              <a:rPr sz="2175" b="0">
                <a:solidFill>
                  <a:srgbClr val="102D3D"/>
                </a:solidFill>
                <a:latin typeface="Arial"/>
                <a:ea typeface="Arial"/>
                <a:cs typeface="Arial"/>
              </a:rPr>
              <a:t>El perfil tres-nodos activa los trabajadores adicionales.</a:t>
            </a:r>
          </a:p>
        </p:txBody>
      </p:sp>
    </p:spTree>
    <p:extLst>
      <p:ext uri="{BB962C8B-B14F-4D97-AF65-F5344CB8AC3E}">
        <p14:creationId xmlns:p14="http://schemas.microsoft.com/office/powerpoint/2010/main" val="373333610"/>
      </p:ext>
    </p:extLst>
  </p:cSld>
</p:sld>
</file>

<file path=ppt/slides/slide6.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3F8AFD2-512D-4AC9-A8E2-009631C91477}"/>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Datos distribuidos en HDFS</a:t>
            </a:r>
          </a:p>
        </p:txBody>
      </p:sp>
      <p:sp>
        <p:nvSpPr>
          <p:cNvPr id="2" name="">
            <a:extLst xmlns:a="http://schemas.openxmlformats.org/drawingml/2006/main">
              <a:ext uri="{FF2B5EF4-FFF2-40B4-BE49-F238E27FC236}">
                <a16:creationId xmlns:a16="http://schemas.microsoft.com/office/drawing/2014/main" id="{C850630B-E819-48FE-A3AE-829DD326E55D}"/>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9DA2D26A-DEAC-4EC3-B77C-B26388E2D403}"/>
              </a:ext>
            </a:extLst>
          </p:cNvPr>
          <p:cNvSpPr>
            <a:spLocks xmlns:a="http://schemas.openxmlformats.org/drawingml/2006/main" noGrp="1"/>
          </p:cNvSpPr>
          <p:nvPr/>
        </p:nvSpPr>
        <p:spPr>
          <a:xfrm xmlns:a="http://schemas.openxmlformats.org/drawingml/2006/main">
            <a:off x="609600" y="1571625"/>
            <a:ext cx="5048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067E83"/>
                </a:solidFill>
                <a:latin typeface="Arial"/>
                <a:ea typeface="Arial"/>
                <a:cs typeface="Arial"/>
              </a:defRPr>
            </a:pPr>
            <a:r>
              <a:rPr sz="4350" b="1">
                <a:solidFill>
                  <a:srgbClr val="067E83"/>
                </a:solidFill>
                <a:latin typeface="Arial"/>
                <a:ea typeface="Arial"/>
                <a:cs typeface="Arial"/>
              </a:rPr>
              <a:t>12 bloques</a:t>
            </a:r>
          </a:p>
        </p:txBody>
      </p:sp>
      <p:sp>
        <p:nvSpPr>
          <p:cNvPr id="4" name="">
            <a:extLst xmlns:a="http://schemas.openxmlformats.org/drawingml/2006/main">
              <a:ext uri="{FF2B5EF4-FFF2-40B4-BE49-F238E27FC236}">
                <a16:creationId xmlns:a16="http://schemas.microsoft.com/office/drawing/2014/main" id="{69CEEFA1-7E1A-4CC5-9131-7EF83E06A2BC}"/>
              </a:ext>
            </a:extLst>
          </p:cNvPr>
          <p:cNvSpPr>
            <a:spLocks xmlns:a="http://schemas.openxmlformats.org/drawingml/2006/main" noGrp="1"/>
          </p:cNvSpPr>
          <p:nvPr/>
        </p:nvSpPr>
        <p:spPr>
          <a:xfrm xmlns:a="http://schemas.openxmlformats.org/drawingml/2006/main">
            <a:off x="609600" y="2524125"/>
            <a:ext cx="44291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02D3D"/>
                </a:solidFill>
                <a:latin typeface="Arial"/>
                <a:ea typeface="Arial"/>
                <a:cs typeface="Arial"/>
              </a:defRPr>
            </a:pPr>
            <a:r>
              <a:rPr sz="2250" b="0">
                <a:solidFill>
                  <a:srgbClr val="102D3D"/>
                </a:solidFill>
                <a:latin typeface="Arial"/>
                <a:ea typeface="Arial"/>
                <a:cs typeface="Arial"/>
              </a:rPr>
              <a:t>Cada archivo ocupa un bloque de 3 750 000 bytes.</a:t>
            </a:r>
          </a:p>
        </p:txBody>
      </p:sp>
      <p:graphicFrame>
        <p:nvGraphicFramePr>
          <p:cNvPr id="12" name=""/>
          <p:cNvGraphicFramePr/>
          <p:nvPr/>
        </p:nvGraphicFramePr>
        <p:xfrm>
          <a:off xmlns:a="http://schemas.openxmlformats.org/drawingml/2006/main" x="609600" y="3686175"/>
          <a:ext xmlns:a="http://schemas.openxmlformats.org/drawingml/2006/main" cx="4476750" cy="1943100"/>
        </p:xfrm>
        <a:graphic xmlns:a="http://schemas.openxmlformats.org/drawingml/2006/main">
          <a:graphicData uri="http://schemas.openxmlformats.org/drawingml/2006/table">
            <a:tbl>
              <a:tblPr/>
              <a:tblGrid>
                <a:gridCol w="2952750"/>
                <a:gridCol w="1524000"/>
              </a:tblGrid>
              <a:tr h="485775">
                <a:tc>
                  <a:txBody>
                    <a:bodyPr/>
                    <a:lstStyle/>
                    <a:p>
                      <a:r>
                        <a:rPr sz="1875" b="1">
                          <a:solidFill>
                            <a:srgbClr val="FFFFFF"/>
                          </a:solidFill>
                          <a:latin typeface="Arial"/>
                          <a:ea typeface="Arial"/>
                          <a:cs typeface="Arial"/>
                        </a:rPr>
                        <a:t>DataNode</a:t>
                      </a:r>
                    </a:p>
                  </a:txBody>
                  <a:tcPr marL="91440" marR="91440" marT="45720" marB="45720">
                    <a:solidFill>
                      <a:srgbClr val="102D3D"/>
                    </a:solidFill>
                  </a:tcPr>
                </a:tc>
                <a:tc>
                  <a:txBody>
                    <a:bodyPr/>
                    <a:lstStyle/>
                    <a:p>
                      <a:r>
                        <a:rPr sz="1875" b="1">
                          <a:solidFill>
                            <a:srgbClr val="FFFFFF"/>
                          </a:solidFill>
                          <a:latin typeface="Arial"/>
                          <a:ea typeface="Arial"/>
                          <a:cs typeface="Arial"/>
                        </a:rPr>
                        <a:t>Bloques</a:t>
                      </a:r>
                    </a:p>
                  </a:txBody>
                  <a:tcPr marL="91440" marR="91440" marT="45720" marB="45720">
                    <a:solidFill>
                      <a:srgbClr val="102D3D"/>
                    </a:solidFill>
                  </a:tcPr>
                </a:tc>
              </a:tr>
              <a:tr h="485775">
                <a:tc>
                  <a:txBody>
                    <a:bodyPr/>
                    <a:lstStyle/>
                    <a:p>
                      <a:r>
                        <a:rPr sz="1875">
                          <a:solidFill>
                            <a:srgbClr val="102D3D"/>
                          </a:solidFill>
                          <a:latin typeface="Arial"/>
                          <a:ea typeface="Arial"/>
                          <a:cs typeface="Arial"/>
                        </a:rPr>
                        <a:t>datanode1</a:t>
                      </a:r>
                    </a:p>
                  </a:txBody>
                  <a:tcPr marL="91440" marR="91440" marT="45720" marB="45720">
                    <a:solidFill>
                      <a:srgbClr val="FFFFFF"/>
                    </a:solidFill>
                  </a:tcPr>
                </a:tc>
                <a:tc>
                  <a:txBody>
                    <a:bodyPr/>
                    <a:lstStyle/>
                    <a:p>
                      <a:r>
                        <a:rPr sz="1875">
                          <a:solidFill>
                            <a:srgbClr val="102D3D"/>
                          </a:solidFill>
                          <a:latin typeface="Arial"/>
                          <a:ea typeface="Arial"/>
                          <a:cs typeface="Arial"/>
                        </a:rPr>
                        <a:t>4</a:t>
                      </a:r>
                    </a:p>
                  </a:txBody>
                  <a:tcPr marL="91440" marR="91440" marT="45720" marB="45720">
                    <a:solidFill>
                      <a:srgbClr val="FFFFFF"/>
                    </a:solidFill>
                  </a:tcPr>
                </a:tc>
              </a:tr>
              <a:tr h="485775">
                <a:tc>
                  <a:txBody>
                    <a:bodyPr/>
                    <a:lstStyle/>
                    <a:p>
                      <a:r>
                        <a:rPr sz="1875">
                          <a:solidFill>
                            <a:srgbClr val="102D3D"/>
                          </a:solidFill>
                          <a:latin typeface="Arial"/>
                          <a:ea typeface="Arial"/>
                          <a:cs typeface="Arial"/>
                        </a:rPr>
                        <a:t>datanode2</a:t>
                      </a:r>
                    </a:p>
                  </a:txBody>
                  <a:tcPr marL="91440" marR="91440" marT="45720" marB="45720">
                    <a:solidFill>
                      <a:srgbClr val="FFFFFF"/>
                    </a:solidFill>
                  </a:tcPr>
                </a:tc>
                <a:tc>
                  <a:txBody>
                    <a:bodyPr/>
                    <a:lstStyle/>
                    <a:p>
                      <a:r>
                        <a:rPr sz="1875">
                          <a:solidFill>
                            <a:srgbClr val="102D3D"/>
                          </a:solidFill>
                          <a:latin typeface="Arial"/>
                          <a:ea typeface="Arial"/>
                          <a:cs typeface="Arial"/>
                        </a:rPr>
                        <a:t>4</a:t>
                      </a:r>
                    </a:p>
                  </a:txBody>
                  <a:tcPr marL="91440" marR="91440" marT="45720" marB="45720">
                    <a:solidFill>
                      <a:srgbClr val="FFFFFF"/>
                    </a:solidFill>
                  </a:tcPr>
                </a:tc>
              </a:tr>
              <a:tr h="485775">
                <a:tc>
                  <a:txBody>
                    <a:bodyPr/>
                    <a:lstStyle/>
                    <a:p>
                      <a:r>
                        <a:rPr sz="1875">
                          <a:solidFill>
                            <a:srgbClr val="102D3D"/>
                          </a:solidFill>
                          <a:latin typeface="Arial"/>
                          <a:ea typeface="Arial"/>
                          <a:cs typeface="Arial"/>
                        </a:rPr>
                        <a:t>datanode3</a:t>
                      </a:r>
                    </a:p>
                  </a:txBody>
                  <a:tcPr marL="91440" marR="91440" marT="45720" marB="45720">
                    <a:solidFill>
                      <a:srgbClr val="FFFFFF"/>
                    </a:solidFill>
                  </a:tcPr>
                </a:tc>
                <a:tc>
                  <a:txBody>
                    <a:bodyPr/>
                    <a:lstStyle/>
                    <a:p>
                      <a:r>
                        <a:rPr sz="1875">
                          <a:solidFill>
                            <a:srgbClr val="102D3D"/>
                          </a:solidFill>
                          <a:latin typeface="Arial"/>
                          <a:ea typeface="Arial"/>
                          <a:cs typeface="Arial"/>
                        </a:rPr>
                        <a:t>4</a:t>
                      </a:r>
                    </a:p>
                  </a:txBody>
                  <a:tcPr marL="91440" marR="91440" marT="45720" marB="45720">
                    <a:solidFill>
                      <a:srgbClr val="FFFFFF"/>
                    </a:solidFill>
                  </a:tcPr>
                </a:tc>
              </a:tr>
            </a:tbl>
          </a:graphicData>
        </a:graphic>
      </p:graphicFrame>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d4812f615aa4a09"/>
          <a:stretch xmlns:a="http://schemas.openxmlformats.org/drawingml/2006/main"/>
        </p:blipFill>
        <p:spPr>
          <a:xfrm xmlns:a="http://schemas.openxmlformats.org/drawingml/2006/main">
            <a:off x="5524500" y="1495405"/>
            <a:ext cx="6057900" cy="439106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39D1E0AE-B045-41CD-BA40-70B8C1CB4D1B}"/>
              </a:ext>
            </a:extLst>
          </p:cNvPr>
          <p:cNvSpPr>
            <a:spLocks xmlns:a="http://schemas.openxmlformats.org/drawingml/2006/main" noGrp="1"/>
          </p:cNvSpPr>
          <p:nvPr/>
        </p:nvSpPr>
        <p:spPr>
          <a:xfrm xmlns:a="http://schemas.openxmlformats.org/drawingml/2006/main">
            <a:off x="609600" y="614362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570"/>
                </a:solidFill>
                <a:latin typeface="Arial"/>
                <a:ea typeface="Arial"/>
                <a:cs typeface="Arial"/>
              </a:defRPr>
            </a:pPr>
            <a:r>
              <a:rPr sz="1800" b="0">
                <a:solidFill>
                  <a:srgbClr val="526570"/>
                </a:solidFill>
                <a:latin typeface="Arial"/>
                <a:ea typeface="Arial"/>
                <a:cs typeface="Arial"/>
              </a:rPr>
              <a:t>Replicación 1: una copia por bloque. HDFS reportó HEALTHY.</a:t>
            </a:r>
          </a:p>
        </p:txBody>
      </p:sp>
    </p:spTree>
    <p:extLst>
      <p:ext uri="{BB962C8B-B14F-4D97-AF65-F5344CB8AC3E}">
        <p14:creationId xmlns:p14="http://schemas.microsoft.com/office/powerpoint/2010/main" val="1551809851"/>
      </p:ext>
    </p:extLst>
  </p:cSld>
</p:sld>
</file>

<file path=ppt/slides/slide7.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8DF27FB-9CB8-45BF-96A2-A346FF0A0AF5}"/>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Tres trabajadores disponibles en YARN</a:t>
            </a:r>
          </a:p>
        </p:txBody>
      </p:sp>
      <p:sp>
        <p:nvSpPr>
          <p:cNvPr id="2" name="">
            <a:extLst xmlns:a="http://schemas.openxmlformats.org/drawingml/2006/main">
              <a:ext uri="{FF2B5EF4-FFF2-40B4-BE49-F238E27FC236}">
                <a16:creationId xmlns:a16="http://schemas.microsoft.com/office/drawing/2014/main" id="{32320F9C-A94B-4000-BAB4-F4B2DBA342B3}"/>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D590090-66BD-4963-B89A-51CC8005CDD6}"/>
              </a:ext>
            </a:extLst>
          </p:cNvPr>
          <p:cNvSpPr>
            <a:spLocks xmlns:a="http://schemas.openxmlformats.org/drawingml/2006/main" noGrp="1"/>
          </p:cNvSpPr>
          <p:nvPr/>
        </p:nvSpPr>
        <p:spPr>
          <a:xfrm xmlns:a="http://schemas.openxmlformats.org/drawingml/2006/main">
            <a:off x="609600" y="1600200"/>
            <a:ext cx="209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900" b="1">
                <a:solidFill>
                  <a:srgbClr val="067E83"/>
                </a:solidFill>
                <a:latin typeface="Arial"/>
                <a:ea typeface="Arial"/>
                <a:cs typeface="Arial"/>
              </a:defRPr>
            </a:pPr>
            <a:r>
              <a:rPr sz="9900" b="1">
                <a:solidFill>
                  <a:srgbClr val="067E83"/>
                </a:solidFill>
                <a:latin typeface="Arial"/>
                <a:ea typeface="Arial"/>
                <a:cs typeface="Arial"/>
              </a:rPr>
              <a:t>3</a:t>
            </a:r>
          </a:p>
        </p:txBody>
      </p:sp>
      <p:sp>
        <p:nvSpPr>
          <p:cNvPr id="4" name="">
            <a:extLst xmlns:a="http://schemas.openxmlformats.org/drawingml/2006/main">
              <a:ext uri="{FF2B5EF4-FFF2-40B4-BE49-F238E27FC236}">
                <a16:creationId xmlns:a16="http://schemas.microsoft.com/office/drawing/2014/main" id="{14009D50-CA2D-482B-94A8-76EC008F2190}"/>
              </a:ext>
            </a:extLst>
          </p:cNvPr>
          <p:cNvSpPr>
            <a:spLocks xmlns:a="http://schemas.openxmlformats.org/drawingml/2006/main" noGrp="1"/>
          </p:cNvSpPr>
          <p:nvPr/>
        </p:nvSpPr>
        <p:spPr>
          <a:xfrm xmlns:a="http://schemas.openxmlformats.org/drawingml/2006/main">
            <a:off x="2714625" y="1866900"/>
            <a:ext cx="8572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NodeManager con estado RUNNING</a:t>
            </a:r>
          </a:p>
        </p:txBody>
      </p:sp>
      <p:sp>
        <p:nvSpPr>
          <p:cNvPr id="5" name="">
            <a:extLst xmlns:a="http://schemas.openxmlformats.org/drawingml/2006/main">
              <a:ext uri="{FF2B5EF4-FFF2-40B4-BE49-F238E27FC236}">
                <a16:creationId xmlns:a16="http://schemas.microsoft.com/office/drawing/2014/main" id="{64EEA7C9-F45C-478B-80E9-6C4125584A61}"/>
              </a:ext>
            </a:extLst>
          </p:cNvPr>
          <p:cNvSpPr>
            <a:spLocks xmlns:a="http://schemas.openxmlformats.org/drawingml/2006/main" noGrp="1"/>
          </p:cNvSpPr>
          <p:nvPr/>
        </p:nvSpPr>
        <p:spPr>
          <a:xfrm xmlns:a="http://schemas.openxmlformats.org/drawingml/2006/main">
            <a:off x="609600" y="3333750"/>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02D3D"/>
                </a:solidFill>
                <a:latin typeface="Arial"/>
                <a:ea typeface="Arial"/>
                <a:cs typeface="Arial"/>
              </a:defRPr>
            </a:pPr>
            <a:r>
              <a:rPr sz="2400" b="0">
                <a:solidFill>
                  <a:srgbClr val="102D3D"/>
                </a:solidFill>
                <a:latin typeface="Arial"/>
                <a:ea typeface="Arial"/>
                <a:cs typeface="Arial"/>
              </a:rPr>
              <a:t>YARN reconoce los trabajadores y puede asignarles tareas.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484591ce9cd4163"/>
          <a:stretch xmlns:a="http://schemas.openxmlformats.org/drawingml/2006/main"/>
        </p:blipFill>
        <p:spPr>
          <a:xfrm xmlns:a="http://schemas.openxmlformats.org/drawingml/2006/main">
            <a:off x="609600" y="4431145"/>
            <a:ext cx="10972800" cy="1053236"/>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79F6B3A-560F-4AA7-9BEB-9A707FDE779D}"/>
              </a:ext>
            </a:extLst>
          </p:cNvPr>
          <p:cNvSpPr>
            <a:spLocks xmlns:a="http://schemas.openxmlformats.org/drawingml/2006/main" noGrp="1"/>
          </p:cNvSpPr>
          <p:nvPr/>
        </p:nvSpPr>
        <p:spPr>
          <a:xfrm xmlns:a="http://schemas.openxmlformats.org/drawingml/2006/main">
            <a:off x="609600" y="5876925"/>
            <a:ext cx="1095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570"/>
                </a:solidFill>
                <a:latin typeface="Arial"/>
                <a:ea typeface="Arial"/>
                <a:cs typeface="Arial"/>
              </a:defRPr>
            </a:pPr>
            <a:r>
              <a:rPr sz="1875" b="0">
                <a:solidFill>
                  <a:srgbClr val="526570"/>
                </a:solidFill>
                <a:latin typeface="Arial"/>
                <a:ea typeface="Arial"/>
                <a:cs typeface="Arial"/>
              </a:rPr>
              <a:t>Durante la demo veremos también la actividad mientras corre el trabajo.</a:t>
            </a:r>
          </a:p>
        </p:txBody>
      </p:sp>
    </p:spTree>
    <p:extLst>
      <p:ext uri="{BB962C8B-B14F-4D97-AF65-F5344CB8AC3E}">
        <p14:creationId xmlns:p14="http://schemas.microsoft.com/office/powerpoint/2010/main" val="623752669"/>
      </p:ext>
    </p:extLst>
  </p:cSld>
</p:sld>
</file>

<file path=ppt/slides/slide8.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1EF10D5-4D28-4508-856A-8BF2DFF40AC0}"/>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Una comparación con las mismas condiciones</a:t>
            </a:r>
          </a:p>
        </p:txBody>
      </p:sp>
      <p:sp>
        <p:nvSpPr>
          <p:cNvPr id="2" name="">
            <a:extLst xmlns:a="http://schemas.openxmlformats.org/drawingml/2006/main">
              <a:ext uri="{FF2B5EF4-FFF2-40B4-BE49-F238E27FC236}">
                <a16:creationId xmlns:a16="http://schemas.microsoft.com/office/drawing/2014/main" id="{ACF40552-9B37-464D-B76E-72FBED17789E}"/>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08</a:t>
            </a:r>
          </a:p>
        </p:txBody>
      </p:sp>
      <p:sp>
        <p:nvSpPr>
          <p:cNvPr id="3" name="">
            <a:extLst xmlns:a="http://schemas.openxmlformats.org/drawingml/2006/main">
              <a:ext uri="{FF2B5EF4-FFF2-40B4-BE49-F238E27FC236}">
                <a16:creationId xmlns:a16="http://schemas.microsoft.com/office/drawing/2014/main" id="{E74CCD8E-55B9-42A3-8E60-6BD237ED3423}"/>
              </a:ext>
            </a:extLst>
          </p:cNvPr>
          <p:cNvSpPr>
            <a:spLocks xmlns:a="http://schemas.openxmlformats.org/drawingml/2006/main" noGrp="1"/>
          </p:cNvSpPr>
          <p:nvPr/>
        </p:nvSpPr>
        <p:spPr>
          <a:xfrm xmlns:a="http://schemas.openxmlformats.org/drawingml/2006/main">
            <a:off x="609600" y="1428750"/>
            <a:ext cx="10858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67E83"/>
                </a:solidFill>
                <a:latin typeface="Arial"/>
                <a:ea typeface="Arial"/>
                <a:cs typeface="Arial"/>
              </a:defRPr>
            </a:pPr>
            <a:r>
              <a:rPr sz="2850" b="1">
                <a:solidFill>
                  <a:srgbClr val="067E83"/>
                </a:solidFill>
                <a:latin typeface="Arial"/>
                <a:ea typeface="Arial"/>
                <a:cs typeface="Arial"/>
              </a:rPr>
              <a:t>Tres mediciones por configuración</a:t>
            </a:r>
          </a:p>
        </p:txBody>
      </p:sp>
      <p:sp>
        <p:nvSpPr>
          <p:cNvPr id="4" name="">
            <a:extLst xmlns:a="http://schemas.openxmlformats.org/drawingml/2006/main">
              <a:ext uri="{FF2B5EF4-FFF2-40B4-BE49-F238E27FC236}">
                <a16:creationId xmlns:a16="http://schemas.microsoft.com/office/drawing/2014/main" id="{B120C80B-DD9E-4623-9E59-FD279BB6DABD}"/>
              </a:ext>
            </a:extLst>
          </p:cNvPr>
          <p:cNvSpPr>
            <a:spLocks xmlns:a="http://schemas.openxmlformats.org/drawingml/2006/main" noGrp="1"/>
          </p:cNvSpPr>
          <p:nvPr/>
        </p:nvSpPr>
        <p:spPr>
          <a:xfrm xmlns:a="http://schemas.openxmlformats.org/drawingml/2006/main">
            <a:off x="609600" y="2390775"/>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2D3D"/>
                </a:solidFill>
                <a:latin typeface="Arial"/>
                <a:ea typeface="Arial"/>
                <a:cs typeface="Arial"/>
              </a:defRPr>
            </a:pPr>
            <a:r>
              <a:rPr sz="2325" b="0">
                <a:solidFill>
                  <a:srgbClr val="102D3D"/>
                </a:solidFill>
                <a:latin typeface="Arial"/>
                <a:ea typeface="Arial"/>
                <a:cs typeface="Arial"/>
              </a:rPr>
              <a:t>Conservé los 12 archivos, el código y los parámetros de MapReduce.</a:t>
            </a:r>
          </a:p>
        </p:txBody>
      </p:sp>
      <p:sp>
        <p:nvSpPr>
          <p:cNvPr id="5" name="">
            <a:extLst xmlns:a="http://schemas.openxmlformats.org/drawingml/2006/main">
              <a:ext uri="{FF2B5EF4-FFF2-40B4-BE49-F238E27FC236}">
                <a16:creationId xmlns:a16="http://schemas.microsoft.com/office/drawing/2014/main" id="{319A7E0C-27C3-4C5A-ACEF-BF9B5E9D5920}"/>
              </a:ext>
            </a:extLst>
          </p:cNvPr>
          <p:cNvSpPr>
            <a:spLocks xmlns:a="http://schemas.openxmlformats.org/drawingml/2006/main" noGrp="1"/>
          </p:cNvSpPr>
          <p:nvPr/>
        </p:nvSpPr>
        <p:spPr>
          <a:xfrm xmlns:a="http://schemas.openxmlformats.org/drawingml/2006/main">
            <a:off x="609600" y="33051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2D3D"/>
                </a:solidFill>
                <a:latin typeface="Arial"/>
                <a:ea typeface="Arial"/>
                <a:cs typeface="Arial"/>
              </a:defRPr>
            </a:pPr>
            <a:r>
              <a:rPr sz="2325" b="0">
                <a:solidFill>
                  <a:srgbClr val="102D3D"/>
                </a:solidFill>
                <a:latin typeface="Arial"/>
                <a:ea typeface="Arial"/>
                <a:cs typeface="Arial"/>
              </a:rPr>
              <a:t>Cada trabajo ejecutó 12 tareas Map y una tarea Reduce.</a:t>
            </a:r>
          </a:p>
        </p:txBody>
      </p:sp>
      <p:sp>
        <p:nvSpPr>
          <p:cNvPr id="6" name="">
            <a:extLst xmlns:a="http://schemas.openxmlformats.org/drawingml/2006/main">
              <a:ext uri="{FF2B5EF4-FFF2-40B4-BE49-F238E27FC236}">
                <a16:creationId xmlns:a16="http://schemas.microsoft.com/office/drawing/2014/main" id="{F6810C1F-05BB-49A9-97D3-77EF6A146081}"/>
              </a:ext>
            </a:extLst>
          </p:cNvPr>
          <p:cNvSpPr>
            <a:spLocks xmlns:a="http://schemas.openxmlformats.org/drawingml/2006/main" noGrp="1"/>
          </p:cNvSpPr>
          <p:nvPr/>
        </p:nvSpPr>
        <p:spPr>
          <a:xfrm xmlns:a="http://schemas.openxmlformats.org/drawingml/2006/main">
            <a:off x="609600" y="4124325"/>
            <a:ext cx="10668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2D3D"/>
                </a:solidFill>
                <a:latin typeface="Arial"/>
                <a:ea typeface="Arial"/>
                <a:cs typeface="Arial"/>
              </a:defRPr>
            </a:pPr>
            <a:r>
              <a:rPr sz="2325" b="0">
                <a:solidFill>
                  <a:srgbClr val="102D3D"/>
                </a:solidFill>
                <a:latin typeface="Arial"/>
                <a:ea typeface="Arial"/>
                <a:cs typeface="Arial"/>
              </a:rPr>
              <a:t>Medí el tiempo real del comando, desde el envío hasta su finalización.</a:t>
            </a:r>
          </a:p>
        </p:txBody>
      </p:sp>
      <p:sp>
        <p:nvSpPr>
          <p:cNvPr id="7" name="">
            <a:extLst xmlns:a="http://schemas.openxmlformats.org/drawingml/2006/main">
              <a:ext uri="{FF2B5EF4-FFF2-40B4-BE49-F238E27FC236}">
                <a16:creationId xmlns:a16="http://schemas.microsoft.com/office/drawing/2014/main" id="{26A4C02E-020A-4780-A855-9F6301C0010F}"/>
              </a:ext>
            </a:extLst>
          </p:cNvPr>
          <p:cNvSpPr>
            <a:spLocks xmlns:a="http://schemas.openxmlformats.org/drawingml/2006/main" noGrp="1"/>
          </p:cNvSpPr>
          <p:nvPr/>
        </p:nvSpPr>
        <p:spPr>
          <a:xfrm xmlns:a="http://schemas.openxmlformats.org/drawingml/2006/main">
            <a:off x="609600" y="51244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526570"/>
                </a:solidFill>
                <a:latin typeface="Arial"/>
                <a:ea typeface="Arial"/>
                <a:cs typeface="Arial"/>
              </a:defRPr>
            </a:pPr>
            <a:r>
              <a:rPr sz="2175" b="0">
                <a:solidFill>
                  <a:srgbClr val="526570"/>
                </a:solidFill>
                <a:latin typeface="Arial"/>
                <a:ea typeface="Arial"/>
                <a:cs typeface="Arial"/>
              </a:rPr>
              <a:t>La generación y carga de datos, y los ensayos previos, quedaron fuera.</a:t>
            </a:r>
          </a:p>
        </p:txBody>
      </p:sp>
    </p:spTree>
    <p:extLst>
      <p:ext uri="{BB962C8B-B14F-4D97-AF65-F5344CB8AC3E}">
        <p14:creationId xmlns:p14="http://schemas.microsoft.com/office/powerpoint/2010/main" val="410290882"/>
      </p:ext>
    </p:extLst>
  </p:cSld>
</p:sld>
</file>

<file path=ppt/slides/slide9.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8FAB64A-6280-4B2A-B5D1-F0E3C04B40F1}"/>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El tiempo promedio bajó 43.12 %</a:t>
            </a:r>
          </a:p>
        </p:txBody>
      </p:sp>
      <p:sp>
        <p:nvSpPr>
          <p:cNvPr id="2" name="">
            <a:extLst xmlns:a="http://schemas.openxmlformats.org/drawingml/2006/main">
              <a:ext uri="{FF2B5EF4-FFF2-40B4-BE49-F238E27FC236}">
                <a16:creationId xmlns:a16="http://schemas.microsoft.com/office/drawing/2014/main" id="{CDE92B39-8695-4B9B-9CF1-A139AB3C8105}"/>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09</a:t>
            </a:r>
          </a:p>
        </p:txBody>
      </p:sp>
      <p:graphicFrame>
        <p:nvGraphicFramePr>
          <p:cNvPr id="9" name=""/>
          <p:cNvGraphicFramePr/>
          <p:nvPr/>
        </p:nvGraphicFramePr>
        <p:xfrm>
          <a:off xmlns:a="http://schemas.openxmlformats.org/drawingml/2006/main" x="609600" y="1666875"/>
          <a:ext xmlns:a="http://schemas.openxmlformats.org/drawingml/2006/main" cx="5257800" cy="3143250"/>
        </p:xfrm>
        <a:graphic xmlns:a="http://schemas.openxmlformats.org/drawingml/2006/main">
          <a:graphicData uri="http://schemas.openxmlformats.org/drawingml/2006/table">
            <a:tbl>
              <a:tblPr/>
              <a:tblGrid>
                <a:gridCol w="1409700"/>
                <a:gridCol w="1857375"/>
                <a:gridCol w="1990725"/>
              </a:tblGrid>
              <a:tr h="628650">
                <a:tc>
                  <a:txBody>
                    <a:bodyPr/>
                    <a:lstStyle/>
                    <a:p>
                      <a:r>
                        <a:rPr sz="1875" b="1">
                          <a:solidFill>
                            <a:srgbClr val="FFFFFF"/>
                          </a:solidFill>
                          <a:latin typeface="Arial"/>
                          <a:ea typeface="Arial"/>
                          <a:cs typeface="Arial"/>
                        </a:rPr>
                        <a:t>Prueba</a:t>
                      </a:r>
                    </a:p>
                  </a:txBody>
                  <a:tcPr marL="91440" marR="91440" marT="45720" marB="45720">
                    <a:solidFill>
                      <a:srgbClr val="102D3D"/>
                    </a:solidFill>
                  </a:tcPr>
                </a:tc>
                <a:tc>
                  <a:txBody>
                    <a:bodyPr/>
                    <a:lstStyle/>
                    <a:p>
                      <a:r>
                        <a:rPr sz="1875" b="1">
                          <a:solidFill>
                            <a:srgbClr val="FFFFFF"/>
                          </a:solidFill>
                          <a:latin typeface="Arial"/>
                          <a:ea typeface="Arial"/>
                          <a:cs typeface="Arial"/>
                        </a:rPr>
                        <a:t>1 trabajador</a:t>
                      </a:r>
                    </a:p>
                  </a:txBody>
                  <a:tcPr marL="91440" marR="91440" marT="45720" marB="45720">
                    <a:solidFill>
                      <a:srgbClr val="102D3D"/>
                    </a:solidFill>
                  </a:tcPr>
                </a:tc>
                <a:tc>
                  <a:txBody>
                    <a:bodyPr/>
                    <a:lstStyle/>
                    <a:p>
                      <a:r>
                        <a:rPr sz="1875" b="1">
                          <a:solidFill>
                            <a:srgbClr val="FFFFFF"/>
                          </a:solidFill>
                          <a:latin typeface="Arial"/>
                          <a:ea typeface="Arial"/>
                          <a:cs typeface="Arial"/>
                        </a:rPr>
                        <a:t>3 trabajadores</a:t>
                      </a:r>
                    </a:p>
                  </a:txBody>
                  <a:tcPr marL="91440" marR="91440" marT="45720" marB="45720">
                    <a:solidFill>
                      <a:srgbClr val="102D3D"/>
                    </a:solidFill>
                  </a:tcPr>
                </a:tc>
              </a:tr>
              <a:tr h="628650">
                <a:tc>
                  <a:txBody>
                    <a:bodyPr/>
                    <a:lstStyle/>
                    <a:p>
                      <a:r>
                        <a:rPr sz="1875" b="0">
                          <a:solidFill>
                            <a:srgbClr val="102D3D"/>
                          </a:solidFill>
                          <a:latin typeface="Arial"/>
                          <a:ea typeface="Arial"/>
                          <a:cs typeface="Arial"/>
                        </a:rPr>
                        <a:t>1</a:t>
                      </a:r>
                    </a:p>
                  </a:txBody>
                  <a:tcPr marL="91440" marR="91440" marT="45720" marB="45720">
                    <a:solidFill>
                      <a:srgbClr val="FFFFFF"/>
                    </a:solidFill>
                  </a:tcPr>
                </a:tc>
                <a:tc>
                  <a:txBody>
                    <a:bodyPr/>
                    <a:lstStyle/>
                    <a:p>
                      <a:r>
                        <a:rPr sz="1875" b="0">
                          <a:solidFill>
                            <a:srgbClr val="102D3D"/>
                          </a:solidFill>
                          <a:latin typeface="Arial"/>
                          <a:ea typeface="Arial"/>
                          <a:cs typeface="Arial"/>
                        </a:rPr>
                        <a:t>34.47 s</a:t>
                      </a:r>
                    </a:p>
                  </a:txBody>
                  <a:tcPr marL="91440" marR="91440" marT="45720" marB="45720">
                    <a:solidFill>
                      <a:srgbClr val="FFFFFF"/>
                    </a:solidFill>
                  </a:tcPr>
                </a:tc>
                <a:tc>
                  <a:txBody>
                    <a:bodyPr/>
                    <a:lstStyle/>
                    <a:p>
                      <a:r>
                        <a:rPr sz="1875" b="0">
                          <a:solidFill>
                            <a:srgbClr val="102D3D"/>
                          </a:solidFill>
                          <a:latin typeface="Arial"/>
                          <a:ea typeface="Arial"/>
                          <a:cs typeface="Arial"/>
                        </a:rPr>
                        <a:t>18.45 s</a:t>
                      </a:r>
                    </a:p>
                  </a:txBody>
                  <a:tcPr marL="91440" marR="91440" marT="45720" marB="45720">
                    <a:solidFill>
                      <a:srgbClr val="FFFFFF"/>
                    </a:solidFill>
                  </a:tcPr>
                </a:tc>
              </a:tr>
              <a:tr h="628650">
                <a:tc>
                  <a:txBody>
                    <a:bodyPr/>
                    <a:lstStyle/>
                    <a:p>
                      <a:r>
                        <a:rPr sz="1875" b="0">
                          <a:solidFill>
                            <a:srgbClr val="102D3D"/>
                          </a:solidFill>
                          <a:latin typeface="Arial"/>
                          <a:ea typeface="Arial"/>
                          <a:cs typeface="Arial"/>
                        </a:rPr>
                        <a:t>2</a:t>
                      </a:r>
                    </a:p>
                  </a:txBody>
                  <a:tcPr marL="91440" marR="91440" marT="45720" marB="45720">
                    <a:solidFill>
                      <a:srgbClr val="FFFFFF"/>
                    </a:solidFill>
                  </a:tcPr>
                </a:tc>
                <a:tc>
                  <a:txBody>
                    <a:bodyPr/>
                    <a:lstStyle/>
                    <a:p>
                      <a:r>
                        <a:rPr sz="1875" b="0">
                          <a:solidFill>
                            <a:srgbClr val="102D3D"/>
                          </a:solidFill>
                          <a:latin typeface="Arial"/>
                          <a:ea typeface="Arial"/>
                          <a:cs typeface="Arial"/>
                        </a:rPr>
                        <a:t>37.53 s</a:t>
                      </a:r>
                    </a:p>
                  </a:txBody>
                  <a:tcPr marL="91440" marR="91440" marT="45720" marB="45720">
                    <a:solidFill>
                      <a:srgbClr val="FFFFFF"/>
                    </a:solidFill>
                  </a:tcPr>
                </a:tc>
                <a:tc>
                  <a:txBody>
                    <a:bodyPr/>
                    <a:lstStyle/>
                    <a:p>
                      <a:r>
                        <a:rPr sz="1875" b="0">
                          <a:solidFill>
                            <a:srgbClr val="102D3D"/>
                          </a:solidFill>
                          <a:latin typeface="Arial"/>
                          <a:ea typeface="Arial"/>
                          <a:cs typeface="Arial"/>
                        </a:rPr>
                        <a:t>21.41 s</a:t>
                      </a:r>
                    </a:p>
                  </a:txBody>
                  <a:tcPr marL="91440" marR="91440" marT="45720" marB="45720">
                    <a:solidFill>
                      <a:srgbClr val="FFFFFF"/>
                    </a:solidFill>
                  </a:tcPr>
                </a:tc>
              </a:tr>
              <a:tr h="628650">
                <a:tc>
                  <a:txBody>
                    <a:bodyPr/>
                    <a:lstStyle/>
                    <a:p>
                      <a:r>
                        <a:rPr sz="1875" b="0">
                          <a:solidFill>
                            <a:srgbClr val="102D3D"/>
                          </a:solidFill>
                          <a:latin typeface="Arial"/>
                          <a:ea typeface="Arial"/>
                          <a:cs typeface="Arial"/>
                        </a:rPr>
                        <a:t>3</a:t>
                      </a:r>
                    </a:p>
                  </a:txBody>
                  <a:tcPr marL="91440" marR="91440" marT="45720" marB="45720">
                    <a:solidFill>
                      <a:srgbClr val="FFFFFF"/>
                    </a:solidFill>
                  </a:tcPr>
                </a:tc>
                <a:tc>
                  <a:txBody>
                    <a:bodyPr/>
                    <a:lstStyle/>
                    <a:p>
                      <a:r>
                        <a:rPr sz="1875" b="0">
                          <a:solidFill>
                            <a:srgbClr val="102D3D"/>
                          </a:solidFill>
                          <a:latin typeface="Arial"/>
                          <a:ea typeface="Arial"/>
                          <a:cs typeface="Arial"/>
                        </a:rPr>
                        <a:t>36.50 s</a:t>
                      </a:r>
                    </a:p>
                  </a:txBody>
                  <a:tcPr marL="91440" marR="91440" marT="45720" marB="45720">
                    <a:solidFill>
                      <a:srgbClr val="FFFFFF"/>
                    </a:solidFill>
                  </a:tcPr>
                </a:tc>
                <a:tc>
                  <a:txBody>
                    <a:bodyPr/>
                    <a:lstStyle/>
                    <a:p>
                      <a:r>
                        <a:rPr sz="1875" b="0">
                          <a:solidFill>
                            <a:srgbClr val="102D3D"/>
                          </a:solidFill>
                          <a:latin typeface="Arial"/>
                          <a:ea typeface="Arial"/>
                          <a:cs typeface="Arial"/>
                        </a:rPr>
                        <a:t>21.85 s</a:t>
                      </a:r>
                    </a:p>
                  </a:txBody>
                  <a:tcPr marL="91440" marR="91440" marT="45720" marB="45720">
                    <a:solidFill>
                      <a:srgbClr val="FFFFFF"/>
                    </a:solidFill>
                  </a:tcPr>
                </a:tc>
              </a:tr>
              <a:tr h="628650">
                <a:tc>
                  <a:txBody>
                    <a:bodyPr/>
                    <a:lstStyle/>
                    <a:p>
                      <a:r>
                        <a:rPr sz="1875" b="1">
                          <a:solidFill>
                            <a:srgbClr val="102D3D"/>
                          </a:solidFill>
                          <a:latin typeface="Arial"/>
                          <a:ea typeface="Arial"/>
                          <a:cs typeface="Arial"/>
                        </a:rPr>
                        <a:t>Promedio</a:t>
                      </a:r>
                    </a:p>
                  </a:txBody>
                  <a:tcPr marL="91440" marR="91440" marT="45720" marB="45720">
                    <a:solidFill>
                      <a:srgbClr val="DFEAE8"/>
                    </a:solidFill>
                  </a:tcPr>
                </a:tc>
                <a:tc>
                  <a:txBody>
                    <a:bodyPr/>
                    <a:lstStyle/>
                    <a:p>
                      <a:r>
                        <a:rPr sz="1875" b="1">
                          <a:solidFill>
                            <a:srgbClr val="102D3D"/>
                          </a:solidFill>
                          <a:latin typeface="Arial"/>
                          <a:ea typeface="Arial"/>
                          <a:cs typeface="Arial"/>
                        </a:rPr>
                        <a:t>36.17 s</a:t>
                      </a:r>
                    </a:p>
                  </a:txBody>
                  <a:tcPr marL="91440" marR="91440" marT="45720" marB="45720">
                    <a:solidFill>
                      <a:srgbClr val="DFEAE8"/>
                    </a:solidFill>
                  </a:tcPr>
                </a:tc>
                <a:tc>
                  <a:txBody>
                    <a:bodyPr/>
                    <a:lstStyle/>
                    <a:p>
                      <a:r>
                        <a:rPr sz="1875" b="1">
                          <a:solidFill>
                            <a:srgbClr val="102D3D"/>
                          </a:solidFill>
                          <a:latin typeface="Arial"/>
                          <a:ea typeface="Arial"/>
                          <a:cs typeface="Arial"/>
                        </a:rPr>
                        <a:t>20.57 s</a:t>
                      </a:r>
                    </a:p>
                  </a:txBody>
                  <a:tcPr marL="91440" marR="91440" marT="45720" marB="45720">
                    <a:solidFill>
                      <a:srgbClr val="DFEAE8"/>
                    </a:solidFill>
                  </a:tcPr>
                </a:tc>
              </a:tr>
            </a:tbl>
          </a:graphicData>
        </a:graphic>
      </p:graphicFrame>
      <p:graphicFrame>
        <p:nvGraphicFramePr>
          <p:cNvPr id="10" name="Chart"/>
          <p:cNvGraphicFramePr/>
          <p:nvPr/>
        </p:nvGraphicFramePr>
        <p:xfrm>
          <a:off xmlns:a="http://schemas.openxmlformats.org/drawingml/2006/main" x="6334125" y="1581150"/>
          <a:ext xmlns:a="http://schemas.openxmlformats.org/drawingml/2006/main" cx="5238750" cy="3800475"/>
        </p:xfrm>
        <a:graphic xmlns:a="http://schemas.openxmlformats.org/drawingml/2006/main">
          <a:graphicData uri="http://schemas.openxmlformats.org/drawingml/2006/chart">
            <c:chart xmlns:r="http://schemas.openxmlformats.org/officeDocument/2006/relationships" xmlns:c="http://schemas.openxmlformats.org/drawingml/2006/chart" r:id="Re426037d984941bc"/>
          </a:graphicData>
        </a:graphic>
      </p:graphicFrame>
      <p:sp>
        <p:nvSpPr>
          <p:cNvPr id="5" name="">
            <a:extLst xmlns:a="http://schemas.openxmlformats.org/drawingml/2006/main">
              <a:ext uri="{FF2B5EF4-FFF2-40B4-BE49-F238E27FC236}">
                <a16:creationId xmlns:a16="http://schemas.microsoft.com/office/drawing/2014/main" id="{6AD555CB-4EA8-4EEB-984B-DFC6E5859C4E}"/>
              </a:ext>
            </a:extLst>
          </p:cNvPr>
          <p:cNvSpPr>
            <a:spLocks xmlns:a="http://schemas.openxmlformats.org/drawingml/2006/main" noGrp="1"/>
          </p:cNvSpPr>
          <p:nvPr/>
        </p:nvSpPr>
        <p:spPr>
          <a:xfrm xmlns:a="http://schemas.openxmlformats.org/drawingml/2006/main">
            <a:off x="609600" y="5429250"/>
            <a:ext cx="1095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67E83"/>
                </a:solidFill>
                <a:latin typeface="Arial"/>
                <a:ea typeface="Arial"/>
                <a:cs typeface="Arial"/>
              </a:defRPr>
            </a:pPr>
            <a:r>
              <a:rPr sz="2625" b="1">
                <a:solidFill>
                  <a:srgbClr val="067E83"/>
                </a:solidFill>
                <a:latin typeface="Arial"/>
                <a:ea typeface="Arial"/>
                <a:cs typeface="Arial"/>
              </a:rPr>
              <a:t>15.60 s menos por trabajo, en promedio</a:t>
            </a:r>
          </a:p>
        </p:txBody>
      </p:sp>
      <p:sp>
        <p:nvSpPr>
          <p:cNvPr id="6" name="">
            <a:extLst xmlns:a="http://schemas.openxmlformats.org/drawingml/2006/main">
              <a:ext uri="{FF2B5EF4-FFF2-40B4-BE49-F238E27FC236}">
                <a16:creationId xmlns:a16="http://schemas.microsoft.com/office/drawing/2014/main" id="{97627E22-969E-4E08-9C03-C184FE0D1350}"/>
              </a:ext>
            </a:extLst>
          </p:cNvPr>
          <p:cNvSpPr>
            <a:spLocks xmlns:a="http://schemas.openxmlformats.org/drawingml/2006/main" noGrp="1"/>
          </p:cNvSpPr>
          <p:nvPr/>
        </p:nvSpPr>
        <p:spPr>
          <a:xfrm xmlns:a="http://schemas.openxmlformats.org/drawingml/2006/main">
            <a:off x="609600" y="6086475"/>
            <a:ext cx="1095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26570"/>
                </a:solidFill>
                <a:latin typeface="Arial"/>
                <a:ea typeface="Arial"/>
                <a:cs typeface="Arial"/>
              </a:defRPr>
            </a:pPr>
            <a:r>
              <a:rPr sz="1650" b="0">
                <a:solidFill>
                  <a:srgbClr val="526570"/>
                </a:solidFill>
                <a:latin typeface="Arial"/>
                <a:ea typeface="Arial"/>
                <a:cs typeface="Arial"/>
              </a:rPr>
              <a:t>Porcentaje calculado con los promedios sin redondear.</a:t>
            </a:r>
          </a:p>
        </p:txBody>
      </p:sp>
    </p:spTree>
    <p:extLst>
      <p:ext uri="{BB962C8B-B14F-4D97-AF65-F5344CB8AC3E}">
        <p14:creationId xmlns:p14="http://schemas.microsoft.com/office/powerpoint/2010/main" val="377745495"/>
      </p:ext>
    </p:extLst>
  </p:cSld>
</p:sld>
</file>

<file path=ppt/slides/slide10.xml><?xml version="1.0" encoding="utf-8"?>
<p:sld xmlns:p="http://schemas.openxmlformats.org/presentationml/2006/main">
  <p:cSld>
    <p:bg>
      <p:bgPr>
        <a:solidFill xmlns:a="http://schemas.openxmlformats.org/drawingml/2006/main">
          <a:srgbClr val="F5F7F4"/>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247766F-ED40-4924-A15B-BE81193ED2A8}"/>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02D3D"/>
                </a:solidFill>
                <a:latin typeface="Arial"/>
                <a:ea typeface="Arial"/>
                <a:cs typeface="Arial"/>
              </a:defRPr>
            </a:pPr>
            <a:r>
              <a:rPr sz="3300" b="1">
                <a:solidFill>
                  <a:srgbClr val="102D3D"/>
                </a:solidFill>
                <a:latin typeface="Arial"/>
                <a:ea typeface="Arial"/>
                <a:cs typeface="Arial"/>
              </a:rPr>
              <a:t>El resultado del conteo se mantuvo</a:t>
            </a:r>
          </a:p>
        </p:txBody>
      </p:sp>
      <p:sp>
        <p:nvSpPr>
          <p:cNvPr id="2" name="">
            <a:extLst xmlns:a="http://schemas.openxmlformats.org/drawingml/2006/main">
              <a:ext uri="{FF2B5EF4-FFF2-40B4-BE49-F238E27FC236}">
                <a16:creationId xmlns:a16="http://schemas.microsoft.com/office/drawing/2014/main" id="{9995B44C-08A8-47D3-80C1-C0FF87668222}"/>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26570"/>
                </a:solidFill>
                <a:latin typeface="Arial"/>
                <a:ea typeface="Arial"/>
                <a:cs typeface="Arial"/>
              </a:defRPr>
            </a:pPr>
            <a:r>
              <a:rPr sz="1350" b="0">
                <a:solidFill>
                  <a:srgbClr val="526570"/>
                </a:solidFill>
                <a:latin typeface="Arial"/>
                <a:ea typeface="Arial"/>
                <a:cs typeface="Arial"/>
              </a:rPr>
              <a:t>10</a:t>
            </a:r>
          </a:p>
        </p:txBody>
      </p:sp>
      <p:sp>
        <p:nvSpPr>
          <p:cNvPr id="3" name="">
            <a:extLst xmlns:a="http://schemas.openxmlformats.org/drawingml/2006/main">
              <a:ext uri="{FF2B5EF4-FFF2-40B4-BE49-F238E27FC236}">
                <a16:creationId xmlns:a16="http://schemas.microsoft.com/office/drawing/2014/main" id="{689BD650-CEA9-4657-9D77-3116FF2393BB}"/>
              </a:ext>
            </a:extLst>
          </p:cNvPr>
          <p:cNvSpPr>
            <a:spLocks xmlns:a="http://schemas.openxmlformats.org/drawingml/2006/main" noGrp="1"/>
          </p:cNvSpPr>
          <p:nvPr/>
        </p:nvSpPr>
        <p:spPr>
          <a:xfrm xmlns:a="http://schemas.openxmlformats.org/drawingml/2006/main">
            <a:off x="609600" y="1552575"/>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67E83"/>
                </a:solidFill>
                <a:latin typeface="Arial"/>
                <a:ea typeface="Arial"/>
                <a:cs typeface="Arial"/>
              </a:defRPr>
            </a:pPr>
            <a:r>
              <a:rPr sz="3600" b="1">
                <a:solidFill>
                  <a:srgbClr val="067E83"/>
                </a:solidFill>
                <a:latin typeface="Arial"/>
                <a:ea typeface="Arial"/>
                <a:cs typeface="Arial"/>
              </a:rPr>
              <a:t>hadoop: 1 200 000</a:t>
            </a:r>
          </a:p>
        </p:txBody>
      </p:sp>
      <p:sp>
        <p:nvSpPr>
          <p:cNvPr id="4" name="">
            <a:extLst xmlns:a="http://schemas.openxmlformats.org/drawingml/2006/main">
              <a:ext uri="{FF2B5EF4-FFF2-40B4-BE49-F238E27FC236}">
                <a16:creationId xmlns:a16="http://schemas.microsoft.com/office/drawing/2014/main" id="{26AFDE9F-B714-4B6A-AC10-DD89FCAEB8CD}"/>
              </a:ext>
            </a:extLst>
          </p:cNvPr>
          <p:cNvSpPr>
            <a:spLocks xmlns:a="http://schemas.openxmlformats.org/drawingml/2006/main" noGrp="1"/>
          </p:cNvSpPr>
          <p:nvPr/>
        </p:nvSpPr>
        <p:spPr>
          <a:xfrm xmlns:a="http://schemas.openxmlformats.org/drawingml/2006/main">
            <a:off x="609600" y="23812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02D3D"/>
                </a:solidFill>
                <a:latin typeface="Arial"/>
                <a:ea typeface="Arial"/>
                <a:cs typeface="Arial"/>
              </a:defRPr>
            </a:pPr>
            <a:r>
              <a:rPr sz="2325" b="0">
                <a:solidFill>
                  <a:srgbClr val="102D3D"/>
                </a:solidFill>
                <a:latin typeface="Arial"/>
                <a:ea typeface="Arial"/>
                <a:cs typeface="Arial"/>
              </a:rPr>
              <a:t>Las otras siete palabras aparecieron 600 000 veces cada una.</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01b05dc77da41ba"/>
          <a:stretch xmlns:a="http://schemas.openxmlformats.org/drawingml/2006/main"/>
        </p:blipFill>
        <p:spPr>
          <a:xfrm xmlns:a="http://schemas.openxmlformats.org/drawingml/2006/main">
            <a:off x="609600" y="3336072"/>
            <a:ext cx="10972800" cy="1376481"/>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242CAE33-ED86-421F-B2F4-DBAC29D1CC2B}"/>
              </a:ext>
            </a:extLst>
          </p:cNvPr>
          <p:cNvSpPr>
            <a:spLocks xmlns:a="http://schemas.openxmlformats.org/drawingml/2006/main" noGrp="1"/>
          </p:cNvSpPr>
          <p:nvPr/>
        </p:nvSpPr>
        <p:spPr>
          <a:xfrm xmlns:a="http://schemas.openxmlformats.org/drawingml/2006/main">
            <a:off x="609600" y="5067300"/>
            <a:ext cx="10763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02D3D"/>
                </a:solidFill>
                <a:latin typeface="Arial"/>
                <a:ea typeface="Arial"/>
                <a:cs typeface="Arial"/>
              </a:defRPr>
            </a:pPr>
            <a:r>
              <a:rPr sz="2175" b="0">
                <a:solidFill>
                  <a:srgbClr val="102D3D"/>
                </a:solidFill>
                <a:latin typeface="Arial"/>
                <a:ea typeface="Arial"/>
                <a:cs typeface="Arial"/>
              </a:rPr>
              <a:t>La mejora corresponde a esta prueba en una sola Mac, con datos sintéticos.</a:t>
            </a:r>
          </a:p>
        </p:txBody>
      </p:sp>
      <p:sp>
        <p:nvSpPr>
          <p:cNvPr id="7" name="">
            <a:extLst xmlns:a="http://schemas.openxmlformats.org/drawingml/2006/main">
              <a:ext uri="{FF2B5EF4-FFF2-40B4-BE49-F238E27FC236}">
                <a16:creationId xmlns:a16="http://schemas.microsoft.com/office/drawing/2014/main" id="{26C22083-226E-4391-9EFD-A1A98A873310}"/>
              </a:ext>
            </a:extLst>
          </p:cNvPr>
          <p:cNvSpPr>
            <a:spLocks xmlns:a="http://schemas.openxmlformats.org/drawingml/2006/main" noGrp="1"/>
          </p:cNvSpPr>
          <p:nvPr/>
        </p:nvSpPr>
        <p:spPr>
          <a:xfrm xmlns:a="http://schemas.openxmlformats.org/drawingml/2006/main">
            <a:off x="609600" y="5895975"/>
            <a:ext cx="1095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26570"/>
                </a:solidFill>
                <a:latin typeface="Arial"/>
                <a:ea typeface="Arial"/>
                <a:cs typeface="Arial"/>
              </a:defRPr>
            </a:pPr>
            <a:r>
              <a:rPr sz="1875" b="0">
                <a:solidFill>
                  <a:srgbClr val="526570"/>
                </a:solidFill>
                <a:latin typeface="Arial"/>
                <a:ea typeface="Arial"/>
                <a:cs typeface="Arial"/>
              </a:rPr>
              <a:t>El reducer único y la coordinación también consumen tiempo.</a:t>
            </a:r>
          </a:p>
        </p:txBody>
      </p:sp>
    </p:spTree>
    <p:extLst>
      <p:ext uri="{BB962C8B-B14F-4D97-AF65-F5344CB8AC3E}">
        <p14:creationId xmlns:p14="http://schemas.microsoft.com/office/powerpoint/2010/main" val="843011705"/>
      </p:ext>
    </p:extLst>
  </p:cSld>
</p:sld>
</file>

<file path=ppt/slides/slide11.xml><?xml version="1.0" encoding="utf-8"?>
<p:sld xmlns:p="http://schemas.openxmlformats.org/presentationml/2006/main">
  <p:cSld>
    <p:bg>
      <p:bgPr>
        <a:solidFill xmlns:a="http://schemas.openxmlformats.org/drawingml/2006/main">
          <a:srgbClr val="102D3D"/>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3F34403-0396-4E4C-83CF-6F74EFAE4534}"/>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Demostración en vivo</a:t>
            </a:r>
          </a:p>
        </p:txBody>
      </p:sp>
      <p:sp>
        <p:nvSpPr>
          <p:cNvPr id="2" name="">
            <a:extLst xmlns:a="http://schemas.openxmlformats.org/drawingml/2006/main">
              <a:ext uri="{FF2B5EF4-FFF2-40B4-BE49-F238E27FC236}">
                <a16:creationId xmlns:a16="http://schemas.microsoft.com/office/drawing/2014/main" id="{44B2F80D-5C51-455D-8C20-C61A3C6D4146}"/>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3DBCF"/>
                </a:solidFill>
                <a:latin typeface="Arial"/>
                <a:ea typeface="Arial"/>
                <a:cs typeface="Arial"/>
              </a:defRPr>
            </a:pPr>
            <a:r>
              <a:rPr sz="1350" b="0">
                <a:solidFill>
                  <a:srgbClr val="73DBCF"/>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6D374A1B-9F2D-40D8-8F6A-0455485AA282}"/>
              </a:ext>
            </a:extLst>
          </p:cNvPr>
          <p:cNvSpPr>
            <a:spLocks xmlns:a="http://schemas.openxmlformats.org/drawingml/2006/main" noGrp="1"/>
          </p:cNvSpPr>
          <p:nvPr/>
        </p:nvSpPr>
        <p:spPr>
          <a:xfrm xmlns:a="http://schemas.openxmlformats.org/drawingml/2006/main">
            <a:off x="609600" y="1743075"/>
            <a:ext cx="876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3DBCF"/>
                </a:solidFill>
                <a:latin typeface="Arial"/>
                <a:ea typeface="Arial"/>
                <a:cs typeface="Arial"/>
              </a:defRPr>
            </a:pPr>
            <a:r>
              <a:rPr sz="2925" b="1">
                <a:solidFill>
                  <a:srgbClr val="73DBCF"/>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EE37B2CD-5F19-49F5-8B46-D9BD92C9CEC8}"/>
              </a:ext>
            </a:extLst>
          </p:cNvPr>
          <p:cNvSpPr>
            <a:spLocks xmlns:a="http://schemas.openxmlformats.org/drawingml/2006/main" noGrp="1"/>
          </p:cNvSpPr>
          <p:nvPr/>
        </p:nvSpPr>
        <p:spPr>
          <a:xfrm xmlns:a="http://schemas.openxmlformats.org/drawingml/2006/main">
            <a:off x="1743075" y="1809750"/>
            <a:ext cx="962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Confirmar tres DataNode y tres NodeManager.</a:t>
            </a:r>
          </a:p>
        </p:txBody>
      </p:sp>
      <p:sp>
        <p:nvSpPr>
          <p:cNvPr id="5" name="">
            <a:extLst xmlns:a="http://schemas.openxmlformats.org/drawingml/2006/main">
              <a:ext uri="{FF2B5EF4-FFF2-40B4-BE49-F238E27FC236}">
                <a16:creationId xmlns:a16="http://schemas.microsoft.com/office/drawing/2014/main" id="{1CF8DA70-5828-490D-A31F-8818B5735D33}"/>
              </a:ext>
            </a:extLst>
          </p:cNvPr>
          <p:cNvSpPr>
            <a:spLocks xmlns:a="http://schemas.openxmlformats.org/drawingml/2006/main" noGrp="1"/>
          </p:cNvSpPr>
          <p:nvPr/>
        </p:nvSpPr>
        <p:spPr>
          <a:xfrm xmlns:a="http://schemas.openxmlformats.org/drawingml/2006/main">
            <a:off x="609600" y="2771775"/>
            <a:ext cx="876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3DBCF"/>
                </a:solidFill>
                <a:latin typeface="Arial"/>
                <a:ea typeface="Arial"/>
                <a:cs typeface="Arial"/>
              </a:defRPr>
            </a:pPr>
            <a:r>
              <a:rPr sz="2925" b="1">
                <a:solidFill>
                  <a:srgbClr val="73DBCF"/>
                </a:solidFill>
                <a:latin typeface="Arial"/>
                <a:ea typeface="Arial"/>
                <a:cs typeface="Arial"/>
              </a:rPr>
              <a:t>02</a:t>
            </a:r>
          </a:p>
        </p:txBody>
      </p:sp>
      <p:sp>
        <p:nvSpPr>
          <p:cNvPr id="6" name="">
            <a:extLst xmlns:a="http://schemas.openxmlformats.org/drawingml/2006/main">
              <a:ext uri="{FF2B5EF4-FFF2-40B4-BE49-F238E27FC236}">
                <a16:creationId xmlns:a16="http://schemas.microsoft.com/office/drawing/2014/main" id="{4990FF25-CFF8-41A5-89CB-46CB6DF858A9}"/>
              </a:ext>
            </a:extLst>
          </p:cNvPr>
          <p:cNvSpPr>
            <a:spLocks xmlns:a="http://schemas.openxmlformats.org/drawingml/2006/main" noGrp="1"/>
          </p:cNvSpPr>
          <p:nvPr/>
        </p:nvSpPr>
        <p:spPr>
          <a:xfrm xmlns:a="http://schemas.openxmlformats.org/drawingml/2006/main">
            <a:off x="1743075" y="2838450"/>
            <a:ext cx="962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Ejecutar el conteo con una salida nueva.</a:t>
            </a:r>
          </a:p>
        </p:txBody>
      </p:sp>
      <p:sp>
        <p:nvSpPr>
          <p:cNvPr id="7" name="">
            <a:extLst xmlns:a="http://schemas.openxmlformats.org/drawingml/2006/main">
              <a:ext uri="{FF2B5EF4-FFF2-40B4-BE49-F238E27FC236}">
                <a16:creationId xmlns:a16="http://schemas.microsoft.com/office/drawing/2014/main" id="{2D60DF0D-75CB-4DFD-828C-2FB9E2D22CE6}"/>
              </a:ext>
            </a:extLst>
          </p:cNvPr>
          <p:cNvSpPr>
            <a:spLocks xmlns:a="http://schemas.openxmlformats.org/drawingml/2006/main" noGrp="1"/>
          </p:cNvSpPr>
          <p:nvPr/>
        </p:nvSpPr>
        <p:spPr>
          <a:xfrm xmlns:a="http://schemas.openxmlformats.org/drawingml/2006/main">
            <a:off x="609600" y="3800475"/>
            <a:ext cx="876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3DBCF"/>
                </a:solidFill>
                <a:latin typeface="Arial"/>
                <a:ea typeface="Arial"/>
                <a:cs typeface="Arial"/>
              </a:defRPr>
            </a:pPr>
            <a:r>
              <a:rPr sz="2925" b="1">
                <a:solidFill>
                  <a:srgbClr val="73DBCF"/>
                </a:solidFill>
                <a:latin typeface="Arial"/>
                <a:ea typeface="Arial"/>
                <a:cs typeface="Arial"/>
              </a:rPr>
              <a:t>03</a:t>
            </a:r>
          </a:p>
        </p:txBody>
      </p:sp>
      <p:sp>
        <p:nvSpPr>
          <p:cNvPr id="8" name="">
            <a:extLst xmlns:a="http://schemas.openxmlformats.org/drawingml/2006/main">
              <a:ext uri="{FF2B5EF4-FFF2-40B4-BE49-F238E27FC236}">
                <a16:creationId xmlns:a16="http://schemas.microsoft.com/office/drawing/2014/main" id="{0F7E6FB4-D184-47CC-98B8-D64B4316E89B}"/>
              </a:ext>
            </a:extLst>
          </p:cNvPr>
          <p:cNvSpPr>
            <a:spLocks xmlns:a="http://schemas.openxmlformats.org/drawingml/2006/main" noGrp="1"/>
          </p:cNvSpPr>
          <p:nvPr/>
        </p:nvSpPr>
        <p:spPr>
          <a:xfrm xmlns:a="http://schemas.openxmlformats.org/drawingml/2006/main">
            <a:off x="1743075" y="3867150"/>
            <a:ext cx="962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Observar actividad por trabajador en YARN.</a:t>
            </a:r>
          </a:p>
        </p:txBody>
      </p:sp>
      <p:sp>
        <p:nvSpPr>
          <p:cNvPr id="9" name="">
            <a:extLst xmlns:a="http://schemas.openxmlformats.org/drawingml/2006/main">
              <a:ext uri="{FF2B5EF4-FFF2-40B4-BE49-F238E27FC236}">
                <a16:creationId xmlns:a16="http://schemas.microsoft.com/office/drawing/2014/main" id="{29158E78-2D6C-4455-AECD-D0748913CD1F}"/>
              </a:ext>
            </a:extLst>
          </p:cNvPr>
          <p:cNvSpPr>
            <a:spLocks xmlns:a="http://schemas.openxmlformats.org/drawingml/2006/main" noGrp="1"/>
          </p:cNvSpPr>
          <p:nvPr/>
        </p:nvSpPr>
        <p:spPr>
          <a:xfrm xmlns:a="http://schemas.openxmlformats.org/drawingml/2006/main">
            <a:off x="609600" y="4829175"/>
            <a:ext cx="8763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73DBCF"/>
                </a:solidFill>
                <a:latin typeface="Arial"/>
                <a:ea typeface="Arial"/>
                <a:cs typeface="Arial"/>
              </a:defRPr>
            </a:pPr>
            <a:r>
              <a:rPr sz="2925" b="1">
                <a:solidFill>
                  <a:srgbClr val="73DBCF"/>
                </a:solidFill>
                <a:latin typeface="Arial"/>
                <a:ea typeface="Arial"/>
                <a:cs typeface="Arial"/>
              </a:rPr>
              <a:t>04</a:t>
            </a:r>
          </a:p>
        </p:txBody>
      </p:sp>
      <p:sp>
        <p:nvSpPr>
          <p:cNvPr id="10" name="">
            <a:extLst xmlns:a="http://schemas.openxmlformats.org/drawingml/2006/main">
              <a:ext uri="{FF2B5EF4-FFF2-40B4-BE49-F238E27FC236}">
                <a16:creationId xmlns:a16="http://schemas.microsoft.com/office/drawing/2014/main" id="{2F3ED859-E25D-4232-9455-C6E42BD8D7B4}"/>
              </a:ext>
            </a:extLst>
          </p:cNvPr>
          <p:cNvSpPr>
            <a:spLocks xmlns:a="http://schemas.openxmlformats.org/drawingml/2006/main" noGrp="1"/>
          </p:cNvSpPr>
          <p:nvPr/>
        </p:nvSpPr>
        <p:spPr>
          <a:xfrm xmlns:a="http://schemas.openxmlformats.org/drawingml/2006/main">
            <a:off x="1743075" y="4895850"/>
            <a:ext cx="962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FFFFFF"/>
                </a:solidFill>
                <a:latin typeface="Arial"/>
                <a:ea typeface="Arial"/>
                <a:cs typeface="Arial"/>
              </a:defRPr>
            </a:pPr>
            <a:r>
              <a:rPr sz="2325" b="0">
                <a:solidFill>
                  <a:srgbClr val="FFFFFF"/>
                </a:solidFill>
                <a:latin typeface="Arial"/>
                <a:ea typeface="Arial"/>
                <a:cs typeface="Arial"/>
              </a:rPr>
              <a:t>Comprobar éxito y consultar las ocho palabras.</a:t>
            </a:r>
          </a:p>
        </p:txBody>
      </p:sp>
    </p:spTree>
    <p:extLst>
      <p:ext uri="{BB962C8B-B14F-4D97-AF65-F5344CB8AC3E}">
        <p14:creationId xmlns:p14="http://schemas.microsoft.com/office/powerpoint/2010/main" val="1523334140"/>
      </p:ext>
    </p:extLst>
  </p:cSld>
</p:sld>
</file>

<file path=ppt/slides/slide12.xml><?xml version="1.0" encoding="utf-8"?>
<p:sld xmlns:p="http://schemas.openxmlformats.org/presentationml/2006/main">
  <p:cSld>
    <p:bg>
      <p:bgPr>
        <a:solidFill xmlns:a="http://schemas.openxmlformats.org/drawingml/2006/main">
          <a:srgbClr val="102D3D"/>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F1BF35C-86DF-4432-A8E6-514AFC40FBF6}"/>
              </a:ext>
            </a:extLst>
          </p:cNvPr>
          <p:cNvSpPr>
            <a:spLocks xmlns:a="http://schemas.openxmlformats.org/drawingml/2006/main" noGrp="1"/>
          </p:cNvSpPr>
          <p:nvPr/>
        </p:nvSpPr>
        <p:spPr>
          <a:xfrm xmlns:a="http://schemas.openxmlformats.org/drawingml/2006/main">
            <a:off x="609600" y="4191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Arial"/>
                <a:ea typeface="Arial"/>
                <a:cs typeface="Arial"/>
              </a:defRPr>
            </a:pPr>
            <a:r>
              <a:rPr sz="3300" b="1">
                <a:solidFill>
                  <a:srgbClr val="FFFFFF"/>
                </a:solidFill>
                <a:latin typeface="Arial"/>
                <a:ea typeface="Arial"/>
                <a:cs typeface="Arial"/>
              </a:rPr>
              <a:t>Conclusión</a:t>
            </a:r>
          </a:p>
        </p:txBody>
      </p:sp>
      <p:sp>
        <p:nvSpPr>
          <p:cNvPr id="2" name="">
            <a:extLst xmlns:a="http://schemas.openxmlformats.org/drawingml/2006/main">
              <a:ext uri="{FF2B5EF4-FFF2-40B4-BE49-F238E27FC236}">
                <a16:creationId xmlns:a16="http://schemas.microsoft.com/office/drawing/2014/main" id="{BE188BBC-EE0E-4CAB-87CA-73613E64E688}"/>
              </a:ext>
            </a:extLst>
          </p:cNvPr>
          <p:cNvSpPr>
            <a:spLocks xmlns:a="http://schemas.openxmlformats.org/drawingml/2006/main" noGrp="1"/>
          </p:cNvSpPr>
          <p:nvPr/>
        </p:nvSpPr>
        <p:spPr>
          <a:xfrm xmlns:a="http://schemas.openxmlformats.org/drawingml/2006/main">
            <a:off x="11239500" y="637222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73DBCF"/>
                </a:solidFill>
                <a:latin typeface="Arial"/>
                <a:ea typeface="Arial"/>
                <a:cs typeface="Arial"/>
              </a:defRPr>
            </a:pPr>
            <a:r>
              <a:rPr sz="1350" b="0">
                <a:solidFill>
                  <a:srgbClr val="73DBCF"/>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B5581AC3-D53A-4397-8F14-2BCBBDFE0F08}"/>
              </a:ext>
            </a:extLst>
          </p:cNvPr>
          <p:cNvSpPr>
            <a:spLocks xmlns:a="http://schemas.openxmlformats.org/drawingml/2006/main" noGrp="1"/>
          </p:cNvSpPr>
          <p:nvPr/>
        </p:nvSpPr>
        <p:spPr>
          <a:xfrm xmlns:a="http://schemas.openxmlformats.org/drawingml/2006/main">
            <a:off x="609600" y="173355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75" b="1">
                <a:solidFill>
                  <a:srgbClr val="FFFFFF"/>
                </a:solidFill>
                <a:latin typeface="Arial"/>
                <a:ea typeface="Arial"/>
                <a:cs typeface="Arial"/>
              </a:defRPr>
            </a:pPr>
            <a:r>
              <a:rPr sz="6675" b="1">
                <a:solidFill>
                  <a:srgbClr val="FFFFFF"/>
                </a:solidFill>
                <a:latin typeface="Arial"/>
                <a:ea typeface="Arial"/>
                <a:cs typeface="Arial"/>
              </a:rPr>
              <a:t>36.17 s</a:t>
            </a:r>
          </a:p>
        </p:txBody>
      </p:sp>
      <p:sp>
        <p:nvSpPr>
          <p:cNvPr id="4" name="">
            <a:extLst xmlns:a="http://schemas.openxmlformats.org/drawingml/2006/main">
              <a:ext uri="{FF2B5EF4-FFF2-40B4-BE49-F238E27FC236}">
                <a16:creationId xmlns:a16="http://schemas.microsoft.com/office/drawing/2014/main" id="{C519F109-6FFB-4E2F-A770-CFA1EB9BD39D}"/>
              </a:ext>
            </a:extLst>
          </p:cNvPr>
          <p:cNvSpPr>
            <a:spLocks xmlns:a="http://schemas.openxmlformats.org/drawingml/2006/main" noGrp="1"/>
          </p:cNvSpPr>
          <p:nvPr/>
        </p:nvSpPr>
        <p:spPr>
          <a:xfrm xmlns:a="http://schemas.openxmlformats.org/drawingml/2006/main">
            <a:off x="657225" y="30861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3DBCF"/>
                </a:solidFill>
                <a:latin typeface="Arial"/>
                <a:ea typeface="Arial"/>
                <a:cs typeface="Arial"/>
              </a:defRPr>
            </a:pPr>
            <a:r>
              <a:rPr sz="2250" b="0">
                <a:solidFill>
                  <a:srgbClr val="73DBCF"/>
                </a:solidFill>
                <a:latin typeface="Arial"/>
                <a:ea typeface="Arial"/>
                <a:cs typeface="Arial"/>
              </a:rPr>
              <a:t>un trabajador</a:t>
            </a:r>
          </a:p>
        </p:txBody>
      </p:sp>
      <p:sp>
        <p:nvSpPr>
          <p:cNvPr id="5" name="">
            <a:extLst xmlns:a="http://schemas.openxmlformats.org/drawingml/2006/main">
              <a:ext uri="{FF2B5EF4-FFF2-40B4-BE49-F238E27FC236}">
                <a16:creationId xmlns:a16="http://schemas.microsoft.com/office/drawing/2014/main" id="{30A29595-E4B9-47FB-93CF-4D727382D079}"/>
              </a:ext>
            </a:extLst>
          </p:cNvPr>
          <p:cNvSpPr>
            <a:spLocks xmlns:a="http://schemas.openxmlformats.org/drawingml/2006/main" noGrp="1"/>
          </p:cNvSpPr>
          <p:nvPr/>
        </p:nvSpPr>
        <p:spPr>
          <a:xfrm xmlns:a="http://schemas.openxmlformats.org/drawingml/2006/main">
            <a:off x="6619875" y="1733550"/>
            <a:ext cx="49530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6675" b="1">
                <a:solidFill>
                  <a:srgbClr val="FFFFFF"/>
                </a:solidFill>
                <a:latin typeface="Arial"/>
                <a:ea typeface="Arial"/>
                <a:cs typeface="Arial"/>
              </a:defRPr>
            </a:pPr>
            <a:r>
              <a:rPr sz="6675" b="1">
                <a:solidFill>
                  <a:srgbClr val="FFFFFF"/>
                </a:solidFill>
                <a:latin typeface="Arial"/>
                <a:ea typeface="Arial"/>
                <a:cs typeface="Arial"/>
              </a:rPr>
              <a:t>20.57 s</a:t>
            </a:r>
          </a:p>
        </p:txBody>
      </p:sp>
      <p:sp>
        <p:nvSpPr>
          <p:cNvPr id="6" name="">
            <a:extLst xmlns:a="http://schemas.openxmlformats.org/drawingml/2006/main">
              <a:ext uri="{FF2B5EF4-FFF2-40B4-BE49-F238E27FC236}">
                <a16:creationId xmlns:a16="http://schemas.microsoft.com/office/drawing/2014/main" id="{726D822C-F3CD-4E93-97E3-F8A74F417DFE}"/>
              </a:ext>
            </a:extLst>
          </p:cNvPr>
          <p:cNvSpPr>
            <a:spLocks xmlns:a="http://schemas.openxmlformats.org/drawingml/2006/main" noGrp="1"/>
          </p:cNvSpPr>
          <p:nvPr/>
        </p:nvSpPr>
        <p:spPr>
          <a:xfrm xmlns:a="http://schemas.openxmlformats.org/drawingml/2006/main">
            <a:off x="6677025" y="308610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73DBCF"/>
                </a:solidFill>
                <a:latin typeface="Arial"/>
                <a:ea typeface="Arial"/>
                <a:cs typeface="Arial"/>
              </a:defRPr>
            </a:pPr>
            <a:r>
              <a:rPr sz="2250" b="0">
                <a:solidFill>
                  <a:srgbClr val="73DBCF"/>
                </a:solidFill>
                <a:latin typeface="Arial"/>
                <a:ea typeface="Arial"/>
                <a:cs typeface="Arial"/>
              </a:rPr>
              <a:t>tres trabajadores</a:t>
            </a:r>
          </a:p>
        </p:txBody>
      </p:sp>
      <p:sp>
        <p:nvSpPr>
          <p:cNvPr id="7" name="">
            <a:extLst xmlns:a="http://schemas.openxmlformats.org/drawingml/2006/main">
              <a:ext uri="{FF2B5EF4-FFF2-40B4-BE49-F238E27FC236}">
                <a16:creationId xmlns:a16="http://schemas.microsoft.com/office/drawing/2014/main" id="{90C39886-2B0C-4CDA-B147-CDD49A2FA89A}"/>
              </a:ext>
            </a:extLst>
          </p:cNvPr>
          <p:cNvSpPr>
            <a:spLocks xmlns:a="http://schemas.openxmlformats.org/drawingml/2006/main" noGrp="1"/>
          </p:cNvSpPr>
          <p:nvPr/>
        </p:nvSpPr>
        <p:spPr>
          <a:xfrm xmlns:a="http://schemas.openxmlformats.org/drawingml/2006/main">
            <a:off x="609600" y="4248150"/>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FFFFFF"/>
                </a:solidFill>
                <a:latin typeface="Arial"/>
                <a:ea typeface="Arial"/>
                <a:cs typeface="Arial"/>
              </a:defRPr>
            </a:pPr>
            <a:r>
              <a:rPr sz="2925" b="1">
                <a:solidFill>
                  <a:srgbClr val="FFFFFF"/>
                </a:solidFill>
                <a:latin typeface="Arial"/>
                <a:ea typeface="Arial"/>
                <a:cs typeface="Arial"/>
              </a:rPr>
              <a:t>El clúster ejecutó el mismo conteo con una reducción de tiempo del 43.12 %.</a:t>
            </a:r>
          </a:p>
        </p:txBody>
      </p:sp>
      <p:sp>
        <p:nvSpPr>
          <p:cNvPr id="8" name="">
            <a:extLst xmlns:a="http://schemas.openxmlformats.org/drawingml/2006/main">
              <a:ext uri="{FF2B5EF4-FFF2-40B4-BE49-F238E27FC236}">
                <a16:creationId xmlns:a16="http://schemas.microsoft.com/office/drawing/2014/main" id="{B46055BC-6A6A-45EE-82AE-F06AB58F2C45}"/>
              </a:ext>
            </a:extLst>
          </p:cNvPr>
          <p:cNvSpPr>
            <a:spLocks xmlns:a="http://schemas.openxmlformats.org/drawingml/2006/main" noGrp="1"/>
          </p:cNvSpPr>
          <p:nvPr/>
        </p:nvSpPr>
        <p:spPr>
          <a:xfrm xmlns:a="http://schemas.openxmlformats.org/drawingml/2006/main">
            <a:off x="609600" y="5743575"/>
            <a:ext cx="10668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73DBCF"/>
                </a:solidFill>
                <a:latin typeface="Arial"/>
                <a:ea typeface="Arial"/>
                <a:cs typeface="Arial"/>
              </a:defRPr>
            </a:pPr>
            <a:r>
              <a:rPr sz="2025" b="0">
                <a:solidFill>
                  <a:srgbClr val="73DBCF"/>
                </a:solidFill>
                <a:latin typeface="Arial"/>
                <a:ea typeface="Arial"/>
                <a:cs typeface="Arial"/>
              </a:rPr>
              <a:t>La comparación conserva los datos y los parámetros de procesamiento.</a:t>
            </a:r>
          </a:p>
        </p:txBody>
      </p:sp>
    </p:spTree>
    <p:extLst>
      <p:ext uri="{BB962C8B-B14F-4D97-AF65-F5344CB8AC3E}">
        <p14:creationId xmlns:p14="http://schemas.microsoft.com/office/powerpoint/2010/main" val="17269145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2026-09-24T00:21:18.4140000Z</dcterms:created>
  <dcterms:modified xsi:type="dcterms:W3CDTF">2026-09-24T00:21:18.4140000Z</dcterms:modified>
</coreProperties>
</file>